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1_889487D8.xml" ContentType="application/vnd.ms-powerpoint.comments+xml"/>
  <Override PartName="/ppt/comments/modernComment_10C_FCFFC000.xml" ContentType="application/vnd.ms-powerpoint.comments+xml"/>
  <Override PartName="/ppt/comments/modernComment_105_45DF8878.xml" ContentType="application/vnd.ms-powerpoint.comments+xml"/>
  <Override PartName="/ppt/notesSlides/notesSlide1.xml" ContentType="application/vnd.openxmlformats-officedocument.presentationml.notesSlide+xml"/>
  <Override PartName="/ppt/comments/modernComment_103_3859AD89.xml" ContentType="application/vnd.ms-powerpoint.comments+xml"/>
  <Override PartName="/ppt/notesSlides/notesSlide2.xml" ContentType="application/vnd.openxmlformats-officedocument.presentationml.notesSlide+xml"/>
  <Override PartName="/ppt/comments/modernComment_106_A255E58C.xml" ContentType="application/vnd.ms-powerpoint.comments+xml"/>
  <Override PartName="/ppt/comments/modernComment_104_1EBCCB08.xml" ContentType="application/vnd.ms-powerpoint.comments+xml"/>
  <Override PartName="/ppt/comments/modernComment_107_E868383F.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9_E0A92F28.xml" ContentType="application/vnd.ms-powerpoint.comments+xml"/>
  <Override PartName="/ppt/comments/modernComment_102_4F1BA598.xml" ContentType="application/vnd.ms-powerpoint.comments+xml"/>
  <Override PartName="/ppt/comments/modernComment_10A_D078FA92.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67" r:id="rId4"/>
    <p:sldId id="268" r:id="rId5"/>
    <p:sldId id="261" r:id="rId6"/>
    <p:sldId id="259" r:id="rId7"/>
    <p:sldId id="262" r:id="rId8"/>
    <p:sldId id="260" r:id="rId9"/>
    <p:sldId id="263" r:id="rId10"/>
    <p:sldId id="269" r:id="rId11"/>
    <p:sldId id="265" r:id="rId12"/>
    <p:sldId id="258" r:id="rId13"/>
    <p:sldId id="266"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8C7540D-18E0-C112-009C-C652517031B3}" name="Samuel Hilliard" initials="" userId="S::shilliard3@collin.edu::effd7aee-9473-4090-9b73-baedc43ea6a7" providerId="AD"/>
  <p188:author id="{19325239-F15F-F488-7582-A3FBE084CE1A}" name="Michael Garza" initials="" userId="S::mgarza6@collin.edu::53d6e237-1864-4de4-a525-33614631a31f" providerId="AD"/>
  <p188:author id="{F6566885-4F16-6716-16AF-DB3C25D68711}" name="Natalia Hernandez" initials="NH" userId="S::nhernandez37@collin.edu::8dc9bf23-a9b4-4069-bbf4-242ba9ef54ed" providerId="AD"/>
  <p188:author id="{25D689CB-0DCB-F6C2-129D-B39A05FAA930}" name="Guest User" initials="GU" userId="S::urn:spo:tenantanon#c5063431-d7f2-48db-ac62-eaeaa2e0bffc::" providerId="AD"/>
  <p188:author id="{FCBE40EF-E29B-26A5-80F5-D0A0972DD5E8}" name="Hudson Cole" initials="" userId="S::hcole10@collin.edu::1d43551f-1f63-44a2-a48c-93ac0cc0b6e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D3D55E-B5E3-8B87-2B97-DC8A60C31BA2}" v="9" dt="2026-05-07T22:58:02.952"/>
    <p1510:client id="{202AA6B9-2640-481E-B1C7-8CA833BE3E98}" v="215" dt="2026-05-07T22:16:02.921"/>
    <p1510:client id="{24243E31-51EA-43B7-A159-4536DC4F23B5}" v="44" dt="2026-05-06T05:37:05.014"/>
    <p1510:client id="{249D63D1-FE55-4FDF-921B-803850B31FEE}" v="93" dt="2026-05-07T23:39:29.722"/>
    <p1510:client id="{423C940C-8ED0-9A16-228D-AA32CD90353C}" v="868" dt="2026-05-07T05:10:27.391"/>
    <p1510:client id="{496A2310-BC4A-B713-D226-CE7499056276}" v="308" dt="2026-05-07T22:59:29.280"/>
    <p1510:client id="{686143DE-D814-4457-A90A-9860F994C4C9}" v="18" dt="2026-05-06T04:56:20.516"/>
    <p1510:client id="{C2AB3DA1-0099-0D8F-8BFC-D5A514F0A8EB}" v="7" dt="2026-05-06T16:18:51.876"/>
    <p1510:client id="{DF80EABF-26F7-A374-9C71-4CDDB505AE9F}" v="324" dt="2026-05-07T22:25:59.6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comments/modernComment_10A_D078FA92.xml><?xml version="1.0" encoding="utf-8"?>
<p188:cmLst xmlns:a="http://schemas.openxmlformats.org/drawingml/2006/main" xmlns:r="http://schemas.openxmlformats.org/officeDocument/2006/relationships" xmlns:p188="http://schemas.microsoft.com/office/powerpoint/2018/8/main">
  <p188:cm id="{BD791F84-FF58-430E-8603-D1956CC8A558}" authorId="{F6566885-4F16-6716-16AF-DB3C25D68711}" created="2026-04-01T01:32:24.895" startDate="2026-04-01T01:32:24.895" dueDate="2026-04-01T01:32:24.895" assignedTo="{19325239-F15F-F488-7582-A3FBE084CE1A}" title="@Michael Garza">
    <pc:sldMkLst xmlns:pc="http://schemas.microsoft.com/office/powerpoint/2013/main/command">
      <pc:docMk/>
      <pc:sldMk cId="3497589394" sldId="266"/>
    </pc:sldMkLst>
    <p188:replyLst>
      <p188:reply id="{18B59A78-7D59-43EC-86E1-BC6CC06994D2}" authorId="{F6566885-4F16-6716-16AF-DB3C25D68711}" created="2026-05-06T16:36:30.253">
        <p188:txBody>
          <a:bodyPr/>
          <a:lstStyle/>
          <a:p>
            <a:r>
              <a:rPr lang="en-US"/>
              <a:t>added clipart, feel free to change if it doesnt apply</a:t>
            </a:r>
          </a:p>
        </p188:txBody>
      </p188:reply>
    </p188:replyLst>
    <p188:txBody>
      <a:bodyPr/>
      <a:lstStyle/>
      <a:p>
        <a:r>
          <a:rPr lang="en-US"/>
          <a:t>[@Michael Garza] </a:t>
        </a:r>
      </a:p>
    </p188:txBody>
    <p188:extLst>
      <p:ext xmlns:p="http://schemas.openxmlformats.org/presentationml/2006/main" uri="{5BB2D875-25FF-4072-B9AC-8F64D62656EB}">
        <p228:taskDetails xmlns:p228="http://schemas.microsoft.com/office/powerpoint/2022/08/main">
          <p228:history>
            <p228:event time="2026-04-01T01:32:24.895" id="{F0924D3E-C34F-4303-9891-823776F56C7C}">
              <p228:atrbtn authorId="{F6566885-4F16-6716-16AF-DB3C25D68711}"/>
              <p228:anchr>
                <p228:comment id="{BD791F84-FF58-430E-8603-D1956CC8A558}"/>
              </p228:anchr>
              <p228:add/>
            </p228:event>
            <p228:event time="2026-04-01T01:32:24.895" id="{4DD0A24F-66C0-4731-A775-5745A9DF3A52}">
              <p228:atrbtn authorId="{F6566885-4F16-6716-16AF-DB3C25D68711}"/>
              <p228:anchr>
                <p228:comment id="{BD791F84-FF58-430E-8603-D1956CC8A558}"/>
              </p228:anchr>
              <p228:asgn authorId="{19325239-F15F-F488-7582-A3FBE084CE1A}"/>
            </p228:event>
            <p228:event time="2026-04-01T01:32:24.895" id="{50E68F6F-FB40-4605-9E59-EE4F9ECEFFC1}">
              <p228:atrbtn authorId="{F6566885-4F16-6716-16AF-DB3C25D68711}"/>
              <p228:anchr>
                <p228:comment id="{BD791F84-FF58-430E-8603-D1956CC8A558}"/>
              </p228:anchr>
              <p228:title val="@Michael Garza"/>
            </p228:event>
            <p228:event time="2026-04-01T01:32:24.895" id="{26F0DCF1-5ADF-41A4-9D12-94B419AA8A12}">
              <p228:atrbtn authorId="{F6566885-4F16-6716-16AF-DB3C25D68711}"/>
              <p228:anchr>
                <p228:comment id="{BD791F84-FF58-430E-8603-D1956CC8A558}"/>
              </p228:anchr>
              <p228:date stDt="2026-04-01T01:32:24.895" endDt="2026-04-01T01:32:24.895"/>
            </p228:event>
            <p228:event time="2026-05-06T16:18:23.423" id="{069EE4A2-7966-4CEB-94B7-1E291BDBE6DE}">
              <p228:atrbtn authorId="{25D689CB-0DCB-F6C2-129D-B39A05FAA930}"/>
              <p228:anchr>
                <p228:comment id="{00000000-0000-0000-0000-000000000000}"/>
              </p228:anchr>
              <p228:pcntCmplt val="100000"/>
            </p228:event>
            <p228:event time="2026-05-06T16:35:57.800" id="{39F44A40-28FC-4544-80D3-BF9CEFF5A1A7}">
              <p228:atrbtn authorId="{F6566885-4F16-6716-16AF-DB3C25D68711}"/>
              <p228:anchr>
                <p228:comment id="{00000000-0000-0000-0000-000000000000}"/>
              </p228:anchr>
              <p228:pcntCmplt val="0"/>
            </p228:event>
          </p228:history>
        </p228:taskDetails>
      </p:ext>
    </p188:extLst>
  </p188:cm>
</p188:cmLst>
</file>

<file path=ppt/comments/modernComment_10C_FCFFC000.xml><?xml version="1.0" encoding="utf-8"?>
<p188:cmLst xmlns:a="http://schemas.openxmlformats.org/drawingml/2006/main" xmlns:r="http://schemas.openxmlformats.org/officeDocument/2006/relationships" xmlns:p188="http://schemas.microsoft.com/office/powerpoint/2018/8/main">
  <p188:cm id="{BF62ADD4-9F6A-4783-AB7F-69110A249AEE}" authorId="{F8C7540D-18E0-C112-009C-C652517031B3}" created="2026-05-05T01:14:33.539">
    <ac:deMkLst xmlns:ac="http://schemas.microsoft.com/office/drawing/2013/main/command">
      <pc:docMk xmlns:pc="http://schemas.microsoft.com/office/powerpoint/2013/main/command"/>
      <pc:sldMk xmlns:pc="http://schemas.microsoft.com/office/powerpoint/2013/main/command" cId="4244619264" sldId="268"/>
      <ac:spMk id="3" creationId="{49B8DF8D-45EA-4A1C-5D89-080CA2ACC5C4}"/>
    </ac:deMkLst>
    <p188:txBody>
      <a:bodyPr/>
      <a:lstStyle/>
      <a:p>
        <a:r>
          <a:rPr lang="en-US"/>
          <a:t>Update slide based on Phase.</a:t>
        </a:r>
      </a:p>
    </p188:txBody>
  </p188:cm>
</p188:cmLst>
</file>

<file path=ppt/comments/modernComment_101_889487D8.xml><?xml version="1.0" encoding="utf-8"?>
<p188:cmLst xmlns:a="http://schemas.openxmlformats.org/drawingml/2006/main" xmlns:r="http://schemas.openxmlformats.org/officeDocument/2006/relationships" xmlns:p188="http://schemas.microsoft.com/office/powerpoint/2018/8/main">
  <p188:cm id="{DFC42A42-6B40-48A4-883E-300406749F87}" authorId="{F6566885-4F16-6716-16AF-DB3C25D68711}" created="2026-04-01T01:35:00.630" startDate="2026-04-01T01:35:00.630" dueDate="2026-04-01T01:35:00.630" assignedTo="{F6566885-4F16-6716-16AF-DB3C25D68711}" title="@Natalia Hernandez">
    <pc:sldMkLst xmlns:pc="http://schemas.microsoft.com/office/powerpoint/2013/main/command">
      <pc:docMk/>
      <pc:sldMk cId="2291435480" sldId="257"/>
    </pc:sldMkLst>
    <p188:replyLst>
      <p188:reply id="{9D54D8C8-4668-4426-B84A-52CE4762C1CA}" authorId="{F6566885-4F16-6716-16AF-DB3C25D68711}" created="2026-05-07T05:10:27.391">
        <p188:txBody>
          <a:bodyPr/>
          <a:lstStyle/>
          <a:p>
            <a:r>
              <a:rPr lang="en-US"/>
              <a:t>update past tense format</a:t>
            </a:r>
          </a:p>
        </p188:txBody>
      </p188:reply>
    </p188:replyLst>
    <p188:txBody>
      <a:bodyPr/>
      <a:lstStyle/>
      <a:p>
        <a:r>
          <a:rPr lang="en-US"/>
          <a:t>[@Natalia Hernandez] </a:t>
        </a:r>
      </a:p>
    </p188:txBody>
    <p188:extLst>
      <p:ext xmlns:p="http://schemas.openxmlformats.org/presentationml/2006/main" uri="{5BB2D875-25FF-4072-B9AC-8F64D62656EB}">
        <p228:taskDetails xmlns:p228="http://schemas.microsoft.com/office/powerpoint/2022/08/main">
          <p228:history>
            <p228:event time="2026-04-01T01:35:00.630" id="{15CC59BB-698A-46BA-9BA6-C0E9B6A8294D}">
              <p228:atrbtn authorId="{F6566885-4F16-6716-16AF-DB3C25D68711}"/>
              <p228:anchr>
                <p228:comment id="{DFC42A42-6B40-48A4-883E-300406749F87}"/>
              </p228:anchr>
              <p228:add/>
            </p228:event>
            <p228:event time="2026-04-01T01:35:00.630" id="{B869BC4E-B838-4086-8BAA-67E2F5827C9E}">
              <p228:atrbtn authorId="{F6566885-4F16-6716-16AF-DB3C25D68711}"/>
              <p228:anchr>
                <p228:comment id="{DFC42A42-6B40-48A4-883E-300406749F87}"/>
              </p228:anchr>
              <p228:asgn authorId="{F6566885-4F16-6716-16AF-DB3C25D68711}"/>
            </p228:event>
            <p228:event time="2026-04-01T01:35:00.630" id="{E5491CFB-0745-4553-A635-F24C8F1F348F}">
              <p228:atrbtn authorId="{F6566885-4F16-6716-16AF-DB3C25D68711}"/>
              <p228:anchr>
                <p228:comment id="{DFC42A42-6B40-48A4-883E-300406749F87}"/>
              </p228:anchr>
              <p228:title val="@Natalia Hernandez"/>
            </p228:event>
            <p228:event time="2026-04-01T01:35:00.630" id="{75AA975E-AB6F-49F9-A6E6-BD0767783C55}">
              <p228:atrbtn authorId="{F6566885-4F16-6716-16AF-DB3C25D68711}"/>
              <p228:anchr>
                <p228:comment id="{DFC42A42-6B40-48A4-883E-300406749F87}"/>
              </p228:anchr>
              <p228:date stDt="2026-04-01T01:35:00.630" endDt="2026-04-01T01:35:00.630"/>
            </p228:event>
            <p228:event time="2026-04-02T22:03:35.137" id="{F5334360-DCB8-432B-9251-5B39EE2E964D}">
              <p228:atrbtn authorId="{F6566885-4F16-6716-16AF-DB3C25D68711}"/>
              <p228:anchr>
                <p228:comment id="{00000000-0000-0000-0000-000000000000}"/>
              </p228:anchr>
              <p228:pcntCmplt val="100000"/>
            </p228:event>
            <p228:event time="2026-05-07T05:09:58.548" id="{D72D90A1-A206-4891-B06B-A32AE2BDF04E}">
              <p228:atrbtn authorId="{F6566885-4F16-6716-16AF-DB3C25D68711}"/>
              <p228:anchr>
                <p228:comment id="{00000000-0000-0000-0000-000000000000}"/>
              </p228:anchr>
              <p228:pcntCmplt val="0"/>
            </p228:event>
          </p228:history>
        </p228:taskDetails>
      </p:ext>
    </p188:extLst>
  </p188:cm>
</p188:cmLst>
</file>

<file path=ppt/comments/modernComment_102_4F1BA598.xml><?xml version="1.0" encoding="utf-8"?>
<p188:cmLst xmlns:a="http://schemas.openxmlformats.org/drawingml/2006/main" xmlns:r="http://schemas.openxmlformats.org/officeDocument/2006/relationships" xmlns:p188="http://schemas.microsoft.com/office/powerpoint/2018/8/main">
  <p188:cm id="{FE7DCB48-F0B7-4239-B1E6-6EAEFD06DA4E}" authorId="{F6566885-4F16-6716-16AF-DB3C25D68711}" status="resolved" created="2026-04-01T01:39:23.552" startDate="2026-04-01T01:39:23.552" dueDate="2026-04-01T01:39:23.552" assignedTo="{19325239-F15F-F488-7582-A3FBE084CE1A}" complete="100000" title="@Michael Garza">
    <pc:sldMkLst xmlns:pc="http://schemas.microsoft.com/office/powerpoint/2013/main/command">
      <pc:docMk/>
      <pc:sldMk cId="1327211928" sldId="258"/>
    </pc:sldMkLst>
    <p188:txBody>
      <a:bodyPr/>
      <a:lstStyle/>
      <a:p>
        <a:r>
          <a:rPr lang="en-US"/>
          <a:t>[@Michael Garza] </a:t>
        </a:r>
      </a:p>
    </p188:txBody>
    <p188:extLst>
      <p:ext xmlns:p="http://schemas.openxmlformats.org/presentationml/2006/main" uri="{5BB2D875-25FF-4072-B9AC-8F64D62656EB}">
        <p228:taskDetails xmlns:p228="http://schemas.microsoft.com/office/powerpoint/2022/08/main">
          <p228:history>
            <p228:event time="2026-04-01T01:39:23.552" id="{4DA0A83E-1495-4E7A-A85A-D078E8AA5270}">
              <p228:atrbtn authorId="{F6566885-4F16-6716-16AF-DB3C25D68711}"/>
              <p228:anchr>
                <p228:comment id="{FE7DCB48-F0B7-4239-B1E6-6EAEFD06DA4E}"/>
              </p228:anchr>
              <p228:add/>
            </p228:event>
            <p228:event time="2026-04-01T01:39:23.552" id="{D21F7DD7-267F-48DE-AC99-1496C80A92DB}">
              <p228:atrbtn authorId="{F6566885-4F16-6716-16AF-DB3C25D68711}"/>
              <p228:anchr>
                <p228:comment id="{FE7DCB48-F0B7-4239-B1E6-6EAEFD06DA4E}"/>
              </p228:anchr>
              <p228:asgn authorId="{19325239-F15F-F488-7582-A3FBE084CE1A}"/>
            </p228:event>
            <p228:event time="2026-04-01T01:39:23.552" id="{39BCFEC8-35D2-4C44-8323-41A22B99F2EF}">
              <p228:atrbtn authorId="{F6566885-4F16-6716-16AF-DB3C25D68711}"/>
              <p228:anchr>
                <p228:comment id="{FE7DCB48-F0B7-4239-B1E6-6EAEFD06DA4E}"/>
              </p228:anchr>
              <p228:title val="@Michael Garza"/>
            </p228:event>
            <p228:event time="2026-04-01T01:39:23.552" id="{C36A6DBC-2A2A-4CA5-BF26-3FF00C480593}">
              <p228:atrbtn authorId="{F6566885-4F16-6716-16AF-DB3C25D68711}"/>
              <p228:anchr>
                <p228:comment id="{FE7DCB48-F0B7-4239-B1E6-6EAEFD06DA4E}"/>
              </p228:anchr>
              <p228:date stDt="2026-04-01T01:39:23.552" endDt="2026-04-01T01:39:23.552"/>
            </p228:event>
            <p228:event time="2026-05-06T16:18:28.408" id="{C4AAB6D5-6C55-4307-86C1-3B3457F38513}">
              <p228:atrbtn authorId="{25D689CB-0DCB-F6C2-129D-B39A05FAA930}"/>
              <p228:anchr>
                <p228:comment id="{00000000-0000-0000-0000-000000000000}"/>
              </p228:anchr>
              <p228:pcntCmplt val="100000"/>
            </p228:event>
          </p228:history>
        </p228:taskDetails>
      </p:ext>
    </p188:extLst>
  </p188:cm>
</p188:cmLst>
</file>

<file path=ppt/comments/modernComment_103_3859AD89.xml><?xml version="1.0" encoding="utf-8"?>
<p188:cmLst xmlns:a="http://schemas.openxmlformats.org/drawingml/2006/main" xmlns:r="http://schemas.openxmlformats.org/officeDocument/2006/relationships" xmlns:p188="http://schemas.microsoft.com/office/powerpoint/2018/8/main">
  <p188:cm id="{2F2DEC34-D0AD-4E01-99D1-155667979B2F}" authorId="{F6566885-4F16-6716-16AF-DB3C25D68711}" status="resolved" created="2026-04-01T18:58:01.206" startDate="2026-04-01T18:58:01.206" dueDate="2026-04-01T18:58:01.206" assignedTo="{F8C7540D-18E0-C112-009C-C652517031B3}" complete="100000" title="@Samuel Hilliard">
    <pc:sldMkLst xmlns:pc="http://schemas.microsoft.com/office/powerpoint/2013/main/command">
      <pc:docMk/>
      <pc:sldMk cId="945401225" sldId="259"/>
    </pc:sldMkLst>
    <p188:replyLst>
      <p188:reply id="{72FF53A5-5BA4-4747-949A-A0F4817B23B9}" authorId="{F8C7540D-18E0-C112-009C-C652517031B3}" created="2026-04-02T23:02:58.930">
        <p188:txBody>
          <a:bodyPr/>
          <a:lstStyle/>
          <a:p>
            <a:r>
              <a:rPr lang="en-US"/>
              <a:t>This slide is updated with more information and presentation notes.</a:t>
            </a:r>
          </a:p>
        </p188:txBody>
      </p188:reply>
      <p188:reply id="{2EF5BE08-E515-40BF-8FD9-BAD1BBDCF756}" authorId="{F6566885-4F16-6716-16AF-DB3C25D68711}" created="2026-04-10T22:16:53.205">
        <p188:txBody>
          <a:bodyPr/>
          <a:lstStyle/>
          <a:p>
            <a:r>
              <a:rPr lang="en-US"/>
              <a:t>Looks great, I updated the diagram with a NAT node </a:t>
            </a:r>
          </a:p>
        </p188:txBody>
      </p188:reply>
      <p188:reply id="{F2A6C3E3-7354-4DD3-BA37-82190517736E}" authorId="{F8C7540D-18E0-C112-009C-C652517031B3}" created="2026-05-05T01:12:01.946">
        <p188:txBody>
          <a:bodyPr/>
          <a:lstStyle/>
          <a:p>
            <a:r>
              <a:rPr lang="en-US"/>
              <a:t>Update slides based on Phase 1.</a:t>
            </a:r>
          </a:p>
        </p188:txBody>
      </p188:reply>
    </p188:replyLst>
    <p188:txBody>
      <a:bodyPr/>
      <a:lstStyle/>
      <a:p>
        <a:r>
          <a:rPr lang="en-US"/>
          <a:t>[@Samuel Hilliard] </a:t>
        </a:r>
      </a:p>
    </p188:txBody>
    <p188:extLst>
      <p:ext xmlns:p="http://schemas.openxmlformats.org/presentationml/2006/main" uri="{5BB2D875-25FF-4072-B9AC-8F64D62656EB}">
        <p228:taskDetails xmlns:p228="http://schemas.microsoft.com/office/powerpoint/2022/08/main">
          <p228:history>
            <p228:event time="2026-04-01T18:58:01.206" id="{3E95C2EB-3E29-4579-B7EA-60BF4261EF3E}">
              <p228:atrbtn authorId="{F6566885-4F16-6716-16AF-DB3C25D68711}"/>
              <p228:anchr>
                <p228:comment id="{2F2DEC34-D0AD-4E01-99D1-155667979B2F}"/>
              </p228:anchr>
              <p228:add/>
            </p228:event>
            <p228:event time="2026-04-01T18:58:01.206" id="{EE544723-292D-4FBF-A148-7547B7925D9C}">
              <p228:atrbtn authorId="{F6566885-4F16-6716-16AF-DB3C25D68711}"/>
              <p228:anchr>
                <p228:comment id="{2F2DEC34-D0AD-4E01-99D1-155667979B2F}"/>
              </p228:anchr>
              <p228:asgn authorId="{F8C7540D-18E0-C112-009C-C652517031B3}"/>
            </p228:event>
            <p228:event time="2026-04-01T18:58:01.206" id="{AFEBDE79-6561-4E4C-90CB-1301F860D4E7}">
              <p228:atrbtn authorId="{F6566885-4F16-6716-16AF-DB3C25D68711}"/>
              <p228:anchr>
                <p228:comment id="{2F2DEC34-D0AD-4E01-99D1-155667979B2F}"/>
              </p228:anchr>
              <p228:title val="@Samuel Hilliard"/>
            </p228:event>
            <p228:event time="2026-04-01T18:58:01.206" id="{602FCCF5-9028-4411-BE02-7601FBC2E030}">
              <p228:atrbtn authorId="{F6566885-4F16-6716-16AF-DB3C25D68711}"/>
              <p228:anchr>
                <p228:comment id="{2F2DEC34-D0AD-4E01-99D1-155667979B2F}"/>
              </p228:anchr>
              <p228:date stDt="2026-04-01T18:58:01.206" endDt="2026-04-01T18:58:01.206"/>
            </p228:event>
            <p228:event time="2026-05-06T16:18:47.314" id="{93A124AF-AD80-40F3-BF18-9486363F9226}">
              <p228:atrbtn authorId="{25D689CB-0DCB-F6C2-129D-B39A05FAA930}"/>
              <p228:anchr>
                <p228:comment id="{00000000-0000-0000-0000-000000000000}"/>
              </p228:anchr>
              <p228:pcntCmplt val="100000"/>
            </p228:event>
          </p228:history>
        </p228:taskDetails>
      </p:ext>
      <p:ext xmlns:p="http://schemas.openxmlformats.org/presentationml/2006/main" uri="{57CB4572-C831-44C2-8A1C-0ADB6CCDFE69}">
        <p223:reactions xmlns:p223="http://schemas.microsoft.com/office/powerpoint/2022/03/main">
          <p223:rxn type="👍">
            <p223:instance time="2026-04-02T22:46:25.783" authorId="{F8C7540D-18E0-C112-009C-C652517031B3}"/>
          </p223:rxn>
        </p223:reactions>
      </p:ext>
    </p188:extLst>
  </p188:cm>
</p188:cmLst>
</file>

<file path=ppt/comments/modernComment_104_1EBCCB08.xml><?xml version="1.0" encoding="utf-8"?>
<p188:cmLst xmlns:a="http://schemas.openxmlformats.org/drawingml/2006/main" xmlns:r="http://schemas.openxmlformats.org/officeDocument/2006/relationships" xmlns:p188="http://schemas.microsoft.com/office/powerpoint/2018/8/main">
  <p188:cm id="{80238620-8538-4310-8622-112AE2588708}" authorId="{F6566885-4F16-6716-16AF-DB3C25D68711}" status="resolved" created="2026-04-01T01:36:37.536" startDate="2026-04-01T01:36:37.536" dueDate="2026-04-01T01:36:37.536" assignedTo="{FCBE40EF-E29B-26A5-80F5-D0A0972DD5E8}" complete="100000" title="@Hudson Cole">
    <pc:sldMkLst xmlns:pc="http://schemas.microsoft.com/office/powerpoint/2013/main/command">
      <pc:docMk/>
      <pc:sldMk cId="515689224" sldId="260"/>
    </pc:sldMkLst>
    <p188:txBody>
      <a:bodyPr/>
      <a:lstStyle/>
      <a:p>
        <a:r>
          <a:rPr lang="en-US"/>
          <a:t>[@Hudson Cole] </a:t>
        </a:r>
      </a:p>
    </p188:txBody>
    <p188:extLst>
      <p:ext xmlns:p="http://schemas.openxmlformats.org/presentationml/2006/main" uri="{5BB2D875-25FF-4072-B9AC-8F64D62656EB}">
        <p228:taskDetails xmlns:p228="http://schemas.microsoft.com/office/powerpoint/2022/08/main">
          <p228:history>
            <p228:event time="2026-04-01T01:36:37.536" id="{B73970DA-6A52-4F65-8080-8A1AAAB73B6B}">
              <p228:atrbtn authorId="{F6566885-4F16-6716-16AF-DB3C25D68711}"/>
              <p228:anchr>
                <p228:comment id="{80238620-8538-4310-8622-112AE2588708}"/>
              </p228:anchr>
              <p228:add/>
            </p228:event>
            <p228:event time="2026-04-01T01:36:37.536" id="{87EB9A3D-345A-474B-A35A-EB2B64CBB0E6}">
              <p228:atrbtn authorId="{F6566885-4F16-6716-16AF-DB3C25D68711}"/>
              <p228:anchr>
                <p228:comment id="{80238620-8538-4310-8622-112AE2588708}"/>
              </p228:anchr>
              <p228:asgn authorId="{FCBE40EF-E29B-26A5-80F5-D0A0972DD5E8}"/>
            </p228:event>
            <p228:event time="2026-04-01T01:36:37.536" id="{36992391-3CF5-44A7-97AB-62E1DF63DBE2}">
              <p228:atrbtn authorId="{F6566885-4F16-6716-16AF-DB3C25D68711}"/>
              <p228:anchr>
                <p228:comment id="{80238620-8538-4310-8622-112AE2588708}"/>
              </p228:anchr>
              <p228:title val="@Hudson Cole"/>
            </p228:event>
            <p228:event time="2026-04-01T01:36:37.536" id="{F137BD26-5A04-401A-99D6-F15B6830AD61}">
              <p228:atrbtn authorId="{F6566885-4F16-6716-16AF-DB3C25D68711}"/>
              <p228:anchr>
                <p228:comment id="{80238620-8538-4310-8622-112AE2588708}"/>
              </p228:anchr>
              <p228:date stDt="2026-04-01T01:36:37.536" endDt="2026-04-01T01:36:37.536"/>
            </p228:event>
            <p228:event time="2026-05-06T16:18:41.236" id="{6ED3EDB6-037B-4D7C-B761-5AA6E0AE3AAD}">
              <p228:atrbtn authorId="{25D689CB-0DCB-F6C2-129D-B39A05FAA930}"/>
              <p228:anchr>
                <p228:comment id="{00000000-0000-0000-0000-000000000000}"/>
              </p228:anchr>
              <p228:pcntCmplt val="100000"/>
            </p228:event>
          </p228:history>
        </p228:taskDetails>
      </p:ext>
    </p188:extLst>
  </p188:cm>
</p188:cmLst>
</file>

<file path=ppt/comments/modernComment_105_45DF8878.xml><?xml version="1.0" encoding="utf-8"?>
<p188:cmLst xmlns:a="http://schemas.openxmlformats.org/drawingml/2006/main" xmlns:r="http://schemas.openxmlformats.org/officeDocument/2006/relationships" xmlns:p188="http://schemas.microsoft.com/office/powerpoint/2018/8/main">
  <p188:cm id="{50970730-A8DF-4628-B42D-33EC3E75F357}" authorId="{F6566885-4F16-6716-16AF-DB3C25D68711}" created="2026-04-01T01:35:34.146" startDate="2026-04-01T01:35:34.146" dueDate="2026-04-01T01:35:34.146" assignedTo="{F6566885-4F16-6716-16AF-DB3C25D68711}" title="@Natalia Hernandez">
    <ac:deMkLst xmlns:ac="http://schemas.microsoft.com/office/drawing/2013/main/command">
      <pc:docMk xmlns:pc="http://schemas.microsoft.com/office/powerpoint/2013/main/command"/>
      <pc:sldMk xmlns:pc="http://schemas.microsoft.com/office/powerpoint/2013/main/command" cId="1172277368" sldId="261"/>
      <ac:spMk id="3" creationId="{5B10207B-FD17-7BD1-8F22-C79D817DB70A}"/>
    </ac:deMkLst>
    <p188:replyLst>
      <p188:reply id="{3E9CA18C-5CD8-483F-B92C-79218013FB6D}" authorId="{F6566885-4F16-6716-16AF-DB3C25D68711}" created="2026-04-02T01:54:37.852">
        <p188:txBody>
          <a:bodyPr/>
          <a:lstStyle/>
          <a:p>
            <a:r>
              <a:rPr lang="en-US"/>
              <a:t>Need updated diagram</a:t>
            </a:r>
          </a:p>
        </p188:txBody>
      </p188:reply>
      <p188:reply id="{6D73E675-720F-4EC8-B634-57683C292645}" authorId="{F6566885-4F16-6716-16AF-DB3C25D68711}" created="2026-05-07T04:58:45.828">
        <p188:txBody>
          <a:bodyPr/>
          <a:lstStyle/>
          <a:p>
            <a:r>
              <a:rPr lang="en-US"/>
              <a:t>Explain GNS3</a:t>
            </a:r>
          </a:p>
        </p188:txBody>
      </p188:reply>
    </p188:replyLst>
    <p188:txBody>
      <a:bodyPr/>
      <a:lstStyle/>
      <a:p>
        <a:r>
          <a:rPr lang="en-US"/>
          <a:t>[@Natalia Hernandez] </a:t>
        </a:r>
      </a:p>
    </p188:txBody>
    <p188:extLst>
      <p:ext xmlns:p="http://schemas.openxmlformats.org/presentationml/2006/main" uri="{5BB2D875-25FF-4072-B9AC-8F64D62656EB}">
        <p228:taskDetails xmlns:p228="http://schemas.microsoft.com/office/powerpoint/2022/08/main">
          <p228:history>
            <p228:event time="2026-04-01T01:35:34.146" id="{5193E1C0-4AB3-44FD-ACB1-A2600E22B721}">
              <p228:atrbtn authorId="{F6566885-4F16-6716-16AF-DB3C25D68711}"/>
              <p228:anchr>
                <p228:comment id="{50970730-A8DF-4628-B42D-33EC3E75F357}"/>
              </p228:anchr>
              <p228:add/>
            </p228:event>
            <p228:event time="2026-04-01T01:35:34.146" id="{1D837FEF-F664-4952-A75A-0820BC68FE76}">
              <p228:atrbtn authorId="{F6566885-4F16-6716-16AF-DB3C25D68711}"/>
              <p228:anchr>
                <p228:comment id="{50970730-A8DF-4628-B42D-33EC3E75F357}"/>
              </p228:anchr>
              <p228:asgn authorId="{F6566885-4F16-6716-16AF-DB3C25D68711}"/>
            </p228:event>
            <p228:event time="2026-04-01T01:35:34.146" id="{589F1EB7-113D-4718-BAC9-FF6641B0E134}">
              <p228:atrbtn authorId="{F6566885-4F16-6716-16AF-DB3C25D68711}"/>
              <p228:anchr>
                <p228:comment id="{50970730-A8DF-4628-B42D-33EC3E75F357}"/>
              </p228:anchr>
              <p228:title val="@Natalia Hernandez"/>
            </p228:event>
            <p228:event time="2026-04-01T01:35:34.146" id="{B363FD8A-547F-4CCB-BC3D-0746A74B6F7B}">
              <p228:atrbtn authorId="{F6566885-4F16-6716-16AF-DB3C25D68711}"/>
              <p228:anchr>
                <p228:comment id="{50970730-A8DF-4628-B42D-33EC3E75F357}"/>
              </p228:anchr>
              <p228:date stDt="2026-04-01T01:35:34.146" endDt="2026-04-01T01:35:34.146"/>
            </p228:event>
            <p228:event time="2026-04-02T22:03:38.903" id="{E61B11BC-03F6-44CB-8F3D-2264FCAE5472}">
              <p228:atrbtn authorId="{F6566885-4F16-6716-16AF-DB3C25D68711}"/>
              <p228:anchr>
                <p228:comment id="{00000000-0000-0000-0000-000000000000}"/>
              </p228:anchr>
              <p228:pcntCmplt val="100000"/>
            </p228:event>
            <p228:event time="2026-05-07T04:58:24.266" id="{A899ED2E-28E8-4CE5-B38C-B7B592B53241}">
              <p228:atrbtn authorId="{F6566885-4F16-6716-16AF-DB3C25D68711}"/>
              <p228:anchr>
                <p228:comment id="{00000000-0000-0000-0000-000000000000}"/>
              </p228:anchr>
              <p228:pcntCmplt val="0"/>
            </p228:event>
          </p228:history>
        </p228:taskDetails>
      </p:ext>
    </p188:extLst>
  </p188:cm>
</p188:cmLst>
</file>

<file path=ppt/comments/modernComment_106_A255E58C.xml><?xml version="1.0" encoding="utf-8"?>
<p188:cmLst xmlns:a="http://schemas.openxmlformats.org/drawingml/2006/main" xmlns:r="http://schemas.openxmlformats.org/officeDocument/2006/relationships" xmlns:p188="http://schemas.microsoft.com/office/powerpoint/2018/8/main">
  <p188:cm id="{78A3F49C-47A2-4A58-9D38-34C33302F083}" authorId="{F6566885-4F16-6716-16AF-DB3C25D68711}" status="resolved" created="2026-04-01T01:37:33.208" startDate="2026-04-01T01:37:33.208" dueDate="2026-04-01T01:37:33.208" assignedTo="{F8C7540D-18E0-C112-009C-C652517031B3}" complete="100000" title="@Samuel Hilliard">
    <ac:deMkLst xmlns:ac="http://schemas.microsoft.com/office/drawing/2013/main/command">
      <pc:docMk xmlns:pc="http://schemas.microsoft.com/office/powerpoint/2013/main/command"/>
      <pc:sldMk xmlns:pc="http://schemas.microsoft.com/office/powerpoint/2013/main/command" cId="2723538316" sldId="262"/>
      <ac:spMk id="3" creationId="{C3204B8B-0BA1-820D-C785-52666C3B2D46}"/>
    </ac:deMkLst>
    <p188:replyLst>
      <p188:reply id="{6575211B-781B-4EA4-8EDA-8C1CED34D1D7}" authorId="{25D689CB-0DCB-F6C2-129D-B39A05FAA930}" created="2026-04-02T01:03:52.480">
        <p188:txBody>
          <a:bodyPr/>
          <a:lstStyle/>
          <a:p>
            <a:r>
              <a:rPr lang="en-US"/>
              <a:t>Thank you for adding the diagram here. </a:t>
            </a:r>
          </a:p>
        </p188:txBody>
      </p188:reply>
      <p188:reply id="{250696F3-9F45-4F48-B046-9DABF9495D5D}" authorId="{F8C7540D-18E0-C112-009C-C652517031B3}" created="2026-04-02T01:21:32.380">
        <p188:txBody>
          <a:bodyPr/>
          <a:lstStyle/>
          <a:p>
            <a:r>
              <a:rPr lang="en-US"/>
              <a:t>Just preparing work in the background now. Also, I was the above Guest User.</a:t>
            </a:r>
          </a:p>
        </p188:txBody>
        <p188:extLst>
          <p:ext xmlns:p="http://schemas.openxmlformats.org/presentationml/2006/main" uri="{57CB4572-C831-44C2-8A1C-0ADB6CCDFE69}">
            <p223:reactions xmlns:p223="http://schemas.microsoft.com/office/powerpoint/2022/03/main">
              <p223:rxn type="👍">
                <p223:instance time="2026-04-02T01:55:22.492" authorId="{F6566885-4F16-6716-16AF-DB3C25D68711}"/>
              </p223:rxn>
            </p223:reactions>
          </p:ext>
        </p188:extLst>
      </p188:reply>
      <p188:reply id="{9FC2C8E3-FDDD-4BF7-8745-02CC8102AF1A}" authorId="{F6566885-4F16-6716-16AF-DB3C25D68711}" created="2026-04-02T01:56:05.445">
        <p188:txBody>
          <a:bodyPr/>
          <a:lstStyle/>
          <a:p>
            <a:r>
              <a:rPr lang="en-US"/>
              <a:t>i believe we need to update diagram as we are using new sniffing tools</a:t>
            </a:r>
          </a:p>
        </p188:txBody>
        <p188:extLst>
          <p:ext xmlns:p="http://schemas.openxmlformats.org/presentationml/2006/main" uri="{57CB4572-C831-44C2-8A1C-0ADB6CCDFE69}">
            <p223:reactions xmlns:p223="http://schemas.microsoft.com/office/powerpoint/2022/03/main">
              <p223:rxn type="👍">
                <p223:instance time="2026-04-02T06:28:49.182" authorId="{F8C7540D-18E0-C112-009C-C652517031B3}"/>
              </p223:rxn>
            </p223:reactions>
          </p:ext>
        </p188:extLst>
      </p188:reply>
      <p188:reply id="{E1AE3B93-801A-4FFA-A05F-58773F98C97A}" authorId="{F8C7540D-18E0-C112-009C-C652517031B3}" created="2026-04-02T06:28:43.337">
        <p188:txBody>
          <a:bodyPr/>
          <a:lstStyle/>
          <a:p>
            <a:r>
              <a:rPr lang="en-US"/>
              <a:t>Placing here for space on the slide: Show in the diagram and confirm the use (or absence) of security protocols such as HTTPS, TLS, or encryption mechanisms for data in transit between components.​</a:t>
            </a:r>
          </a:p>
        </p188:txBody>
      </p188:reply>
      <p188:reply id="{84DCA03A-071C-42E6-BA7E-7B21DAB33241}" authorId="{F6566885-4F16-6716-16AF-DB3C25D68711}" created="2026-04-02T16:05:43.618">
        <p188:txBody>
          <a:bodyPr/>
          <a:lstStyle/>
          <a:p>
            <a:r>
              <a:rPr lang="en-US"/>
              <a:t>I updated diagram, we still need to include other controls, waiting for Hudson to confirm. We are no longer using ModSF or attacker mode, they are being replaced by MITMProxy</a:t>
            </a:r>
          </a:p>
        </p188:txBody>
        <p188:extLst>
          <p:ext xmlns:p="http://schemas.openxmlformats.org/presentationml/2006/main" uri="{57CB4572-C831-44C2-8A1C-0ADB6CCDFE69}">
            <p223:reactions xmlns:p223="http://schemas.microsoft.com/office/powerpoint/2022/03/main">
              <p223:rxn type="👍">
                <p223:instance time="2026-04-02T22:27:23.358" authorId="{F8C7540D-18E0-C112-009C-C652517031B3}"/>
              </p223:rxn>
            </p223:reactions>
          </p:ext>
        </p188:extLst>
      </p188:reply>
      <p188:reply id="{948728B3-076A-4C94-BD58-04989C9F36C0}" authorId="{F8C7540D-18E0-C112-009C-C652517031B3}" created="2026-04-02T22:47:06.641">
        <p188:txBody>
          <a:bodyPr/>
          <a:lstStyle/>
          <a:p>
            <a:r>
              <a:rPr lang="en-US"/>
              <a:t>I tried to update this slide to match our project and the updated diagram now.</a:t>
            </a:r>
          </a:p>
        </p188:txBody>
      </p188:reply>
      <p188:reply id="{CBC30DCC-3FC9-4067-B607-603D891C9E42}" authorId="{F8C7540D-18E0-C112-009C-C652517031B3}" created="2026-04-02T22:47:23.891">
        <p188:txBody>
          <a:bodyPr/>
          <a:lstStyle/>
          <a:p>
            <a:r>
              <a:rPr lang="en-US"/>
              <a:t>Does this look okay [@Natalia Hernandez] ?</a:t>
            </a:r>
          </a:p>
        </p188:txBody>
      </p188:reply>
      <p188:reply id="{E2FDE0A4-4680-47E2-A978-0F15A6717A0A}" authorId="{F8C7540D-18E0-C112-009C-C652517031B3}" created="2026-05-05T01:11:16.493">
        <p188:txBody>
          <a:bodyPr/>
          <a:lstStyle/>
          <a:p>
            <a:r>
              <a:rPr lang="en-US"/>
              <a:t>Update slides based on Phase 1.</a:t>
            </a:r>
          </a:p>
        </p188:txBody>
      </p188:reply>
    </p188:replyLst>
    <p188:txBody>
      <a:bodyPr/>
      <a:lstStyle/>
      <a:p>
        <a:r>
          <a:rPr lang="en-US"/>
          <a:t>[@Samuel Hilliard] </a:t>
        </a:r>
      </a:p>
    </p188:txBody>
    <p188:extLst>
      <p:ext xmlns:p="http://schemas.openxmlformats.org/presentationml/2006/main" uri="{5BB2D875-25FF-4072-B9AC-8F64D62656EB}">
        <p228:taskDetails xmlns:p228="http://schemas.microsoft.com/office/powerpoint/2022/08/main">
          <p228:history>
            <p228:event time="2026-04-01T01:37:33.208" id="{40FB7B6F-2834-4A67-82C7-56703D02B782}">
              <p228:atrbtn authorId="{F6566885-4F16-6716-16AF-DB3C25D68711}"/>
              <p228:anchr>
                <p228:comment id="{78A3F49C-47A2-4A58-9D38-34C33302F083}"/>
              </p228:anchr>
              <p228:add/>
            </p228:event>
            <p228:event time="2026-04-01T01:37:33.208" id="{AD49BF45-5E55-488D-89D2-C5949C6189F5}">
              <p228:atrbtn authorId="{F6566885-4F16-6716-16AF-DB3C25D68711}"/>
              <p228:anchr>
                <p228:comment id="{78A3F49C-47A2-4A58-9D38-34C33302F083}"/>
              </p228:anchr>
              <p228:asgn authorId="{F8C7540D-18E0-C112-009C-C652517031B3}"/>
            </p228:event>
            <p228:event time="2026-04-01T01:37:33.208" id="{7703993C-DB59-4242-A4B0-DC682A5EBA67}">
              <p228:atrbtn authorId="{F6566885-4F16-6716-16AF-DB3C25D68711}"/>
              <p228:anchr>
                <p228:comment id="{78A3F49C-47A2-4A58-9D38-34C33302F083}"/>
              </p228:anchr>
              <p228:title val="@Samuel Hilliard"/>
            </p228:event>
            <p228:event time="2026-04-01T01:37:33.208" id="{60D1ADE4-FFF4-4C07-8CBD-ADFD3FDF27B7}">
              <p228:atrbtn authorId="{F6566885-4F16-6716-16AF-DB3C25D68711}"/>
              <p228:anchr>
                <p228:comment id="{78A3F49C-47A2-4A58-9D38-34C33302F083}"/>
              </p228:anchr>
              <p228:date stDt="2026-04-01T01:37:33.208" endDt="2026-04-01T01:37:33.208"/>
            </p228:event>
            <p228:event time="2026-05-06T16:18:51.876" id="{54B454F8-A280-47A5-9C21-7B3495553BA0}">
              <p228:atrbtn authorId="{25D689CB-0DCB-F6C2-129D-B39A05FAA930}"/>
              <p228:anchr>
                <p228:comment id="{00000000-0000-0000-0000-000000000000}"/>
              </p228:anchr>
              <p228:pcntCmplt val="100000"/>
            </p228:event>
          </p228:history>
        </p228:taskDetails>
      </p:ext>
      <p:ext xmlns:p="http://schemas.openxmlformats.org/presentationml/2006/main" uri="{57CB4572-C831-44C2-8A1C-0ADB6CCDFE69}">
        <p223:reactions xmlns:p223="http://schemas.microsoft.com/office/powerpoint/2022/03/main">
          <p223:rxn type="👍">
            <p223:instance time="2026-04-02T22:27:11.889" authorId="{F8C7540D-18E0-C112-009C-C652517031B3}"/>
          </p223:rxn>
        </p223:reactions>
      </p:ext>
    </p188:extLst>
  </p188:cm>
  <p188:cm id="{AF532BBF-DB8A-4886-B019-19FB880C5DAD}" authorId="{F6566885-4F16-6716-16AF-DB3C25D68711}" created="2026-05-07T03:55:30.718" startDate="2026-05-07T03:55:30.718" dueDate="2026-05-07T03:55:30.718" assignedTo="{F8C7540D-18E0-C112-009C-C652517031B3}" title="@Samuel Hilliard update new sec controls like IPs address, TLS, HTTPS, CMEK Encry. Mention why we don't use a VLAN">
    <pc:sldMkLst xmlns:pc="http://schemas.microsoft.com/office/powerpoint/2013/main/command">
      <pc:docMk/>
      <pc:sldMk cId="2723538316" sldId="262"/>
    </pc:sldMkLst>
    <p188:txBody>
      <a:bodyPr/>
      <a:lstStyle/>
      <a:p>
        <a:r>
          <a:rPr lang="en-US"/>
          <a:t>[@Samuel Hilliard] update new sec controls like IPs address, TLS, HTTPS, CMEK Encry. Mention why we don't use a VLAN</a:t>
        </a:r>
      </a:p>
    </p188:txBody>
    <p188:extLst>
      <p:ext xmlns:p="http://schemas.openxmlformats.org/presentationml/2006/main" uri="{5BB2D875-25FF-4072-B9AC-8F64D62656EB}">
        <p228:taskDetails xmlns:p228="http://schemas.microsoft.com/office/powerpoint/2022/08/main">
          <p228:history>
            <p228:event time="2026-05-07T03:55:30.718" id="{3A27B878-3690-420A-8732-6429D36878D0}">
              <p228:atrbtn authorId="{F6566885-4F16-6716-16AF-DB3C25D68711}"/>
              <p228:anchr>
                <p228:comment id="{AF532BBF-DB8A-4886-B019-19FB880C5DAD}"/>
              </p228:anchr>
              <p228:add/>
            </p228:event>
            <p228:event time="2026-05-07T03:55:30.718" id="{1DFCF1BB-B76A-49A6-A382-09E33784A6F1}">
              <p228:atrbtn authorId="{F6566885-4F16-6716-16AF-DB3C25D68711}"/>
              <p228:anchr>
                <p228:comment id="{AF532BBF-DB8A-4886-B019-19FB880C5DAD}"/>
              </p228:anchr>
              <p228:asgn authorId="{F8C7540D-18E0-C112-009C-C652517031B3}"/>
            </p228:event>
            <p228:event time="2026-05-07T03:55:30.718" id="{12821980-95B2-48A4-B2D6-0A31A425B599}">
              <p228:atrbtn authorId="{F6566885-4F16-6716-16AF-DB3C25D68711}"/>
              <p228:anchr>
                <p228:comment id="{AF532BBF-DB8A-4886-B019-19FB880C5DAD}"/>
              </p228:anchr>
              <p228:title val="@Samuel Hilliard update new sec controls like IPs address, TLS, HTTPS, CMEK Encry. Mention why we don't use a VLAN"/>
            </p228:event>
            <p228:event time="2026-05-07T03:55:30.718" id="{B398A8C9-3E75-487F-80E4-A02237CA2AEC}">
              <p228:atrbtn authorId="{F6566885-4F16-6716-16AF-DB3C25D68711}"/>
              <p228:anchr>
                <p228:comment id="{AF532BBF-DB8A-4886-B019-19FB880C5DAD}"/>
              </p228:anchr>
              <p228:date stDt="2026-05-07T03:55:30.718" endDt="2026-05-07T03:55:30.718"/>
            </p228:event>
            <p228:event time="2026-05-07T04:48:04.155" id="{02D8E9AA-B6DC-492A-9788-9D66F299D14B}">
              <p228:atrbtn authorId="{F6566885-4F16-6716-16AF-DB3C25D68711}"/>
              <p228:anchr>
                <p228:comment id="{00000000-0000-0000-0000-000000000000}"/>
              </p228:anchr>
              <p228:pcntCmplt val="100000"/>
            </p228:event>
            <p228:event time="2026-05-07T04:48:06.452" id="{BF233E2E-F33D-4F3F-B2AC-66634E2A8B66}">
              <p228:atrbtn authorId="{F6566885-4F16-6716-16AF-DB3C25D68711}"/>
              <p228:anchr>
                <p228:comment id="{00000000-0000-0000-0000-000000000000}"/>
              </p228:anchr>
              <p228:pcntCmplt val="0"/>
            </p228:event>
          </p228:history>
        </p228:taskDetails>
      </p:ext>
      <p:ext xmlns:p="http://schemas.openxmlformats.org/presentationml/2006/main" uri="{57CB4572-C831-44C2-8A1C-0ADB6CCDFE69}">
        <p223:reactions xmlns:p223="http://schemas.microsoft.com/office/powerpoint/2022/03/main">
          <p223:rxn type="👍">
            <p223:instance time="2026-05-07T22:57:19.044" authorId="{F8C7540D-18E0-C112-009C-C652517031B3}"/>
          </p223:rxn>
        </p223:reactions>
      </p:ext>
    </p188:extLst>
  </p188:cm>
</p188:cmLst>
</file>

<file path=ppt/comments/modernComment_107_E868383F.xml><?xml version="1.0" encoding="utf-8"?>
<p188:cmLst xmlns:a="http://schemas.openxmlformats.org/drawingml/2006/main" xmlns:r="http://schemas.openxmlformats.org/officeDocument/2006/relationships" xmlns:p188="http://schemas.microsoft.com/office/powerpoint/2018/8/main">
  <p188:cm id="{AFA8F2B1-8D3C-428C-A3E3-148F7053D209}" authorId="{F6566885-4F16-6716-16AF-DB3C25D68711}" status="resolved" created="2026-04-01T18:58:16.299" startDate="2026-04-01T18:58:16.299" dueDate="2026-04-01T18:58:16.299" assignedTo="{FCBE40EF-E29B-26A5-80F5-D0A0972DD5E8}" complete="100000" title="@Hudson Cole">
    <pc:sldMkLst xmlns:pc="http://schemas.microsoft.com/office/powerpoint/2013/main/command">
      <pc:docMk/>
      <pc:sldMk cId="3899144255" sldId="263"/>
    </pc:sldMkLst>
    <p188:txBody>
      <a:bodyPr/>
      <a:lstStyle/>
      <a:p>
        <a:r>
          <a:rPr lang="en-US"/>
          <a:t>[@Hudson Cole] </a:t>
        </a:r>
      </a:p>
    </p188:txBody>
    <p188:extLst>
      <p:ext xmlns:p="http://schemas.openxmlformats.org/presentationml/2006/main" uri="{5BB2D875-25FF-4072-B9AC-8F64D62656EB}">
        <p228:taskDetails xmlns:p228="http://schemas.microsoft.com/office/powerpoint/2022/08/main">
          <p228:history>
            <p228:event time="2026-04-01T18:58:16.299" id="{28593813-E41E-4647-8E96-A898EA3E067D}">
              <p228:atrbtn authorId="{F6566885-4F16-6716-16AF-DB3C25D68711}"/>
              <p228:anchr>
                <p228:comment id="{AFA8F2B1-8D3C-428C-A3E3-148F7053D209}"/>
              </p228:anchr>
              <p228:add/>
            </p228:event>
            <p228:event time="2026-04-01T18:58:16.299" id="{4ED4A18D-BB62-4E31-B9B4-22C082CA4326}">
              <p228:atrbtn authorId="{F6566885-4F16-6716-16AF-DB3C25D68711}"/>
              <p228:anchr>
                <p228:comment id="{AFA8F2B1-8D3C-428C-A3E3-148F7053D209}"/>
              </p228:anchr>
              <p228:asgn authorId="{FCBE40EF-E29B-26A5-80F5-D0A0972DD5E8}"/>
            </p228:event>
            <p228:event time="2026-04-01T18:58:16.299" id="{33B145FF-B6D9-4481-A045-B7DAF4E24555}">
              <p228:atrbtn authorId="{F6566885-4F16-6716-16AF-DB3C25D68711}"/>
              <p228:anchr>
                <p228:comment id="{AFA8F2B1-8D3C-428C-A3E3-148F7053D209}"/>
              </p228:anchr>
              <p228:title val="@Hudson Cole"/>
            </p228:event>
            <p228:event time="2026-04-01T18:58:16.299" id="{8978516E-328E-40A4-88E8-1219F0A3B438}">
              <p228:atrbtn authorId="{F6566885-4F16-6716-16AF-DB3C25D68711}"/>
              <p228:anchr>
                <p228:comment id="{AFA8F2B1-8D3C-428C-A3E3-148F7053D209}"/>
              </p228:anchr>
              <p228:date stDt="2026-04-01T18:58:16.299" endDt="2026-04-01T18:58:16.299"/>
            </p228:event>
            <p228:event time="2026-05-06T16:18:43.579" id="{1B5CA756-43F7-4707-BF4E-4AFF4122DCC4}">
              <p228:atrbtn authorId="{25D689CB-0DCB-F6C2-129D-B39A05FAA930}"/>
              <p228:anchr>
                <p228:comment id="{00000000-0000-0000-0000-000000000000}"/>
              </p228:anchr>
              <p228:pcntCmplt val="100000"/>
            </p228:event>
          </p228:history>
        </p228:taskDetails>
      </p:ext>
    </p188:extLst>
  </p188:cm>
</p188:cmLst>
</file>

<file path=ppt/comments/modernComment_109_E0A92F28.xml><?xml version="1.0" encoding="utf-8"?>
<p188:cmLst xmlns:a="http://schemas.openxmlformats.org/drawingml/2006/main" xmlns:r="http://schemas.openxmlformats.org/officeDocument/2006/relationships" xmlns:p188="http://schemas.microsoft.com/office/powerpoint/2018/8/main">
  <p188:cm id="{E40C7A7C-8295-4E9B-811B-3D090C92DE9A}" authorId="{F6566885-4F16-6716-16AF-DB3C25D68711}" status="resolved" created="2026-04-01T01:32:40.520" startDate="2026-04-01T01:32:40.520" dueDate="2026-04-01T01:32:40.520" assignedTo="{19325239-F15F-F488-7582-A3FBE084CE1A}" complete="100000" title="@Michael Garza">
    <pc:sldMkLst xmlns:pc="http://schemas.microsoft.com/office/powerpoint/2013/main/command">
      <pc:docMk/>
      <pc:sldMk cId="3769184040" sldId="265"/>
    </pc:sldMkLst>
    <p188:txBody>
      <a:bodyPr/>
      <a:lstStyle/>
      <a:p>
        <a:r>
          <a:rPr lang="en-US"/>
          <a:t>[@Michael Garza] </a:t>
        </a:r>
      </a:p>
    </p188:txBody>
    <p188:extLst>
      <p:ext xmlns:p="http://schemas.openxmlformats.org/presentationml/2006/main" uri="{5BB2D875-25FF-4072-B9AC-8F64D62656EB}">
        <p228:taskDetails xmlns:p228="http://schemas.microsoft.com/office/powerpoint/2022/08/main">
          <p228:history>
            <p228:event time="2026-04-01T01:32:40.520" id="{832F7D09-794A-40DD-A1A2-177164477424}">
              <p228:atrbtn authorId="{F6566885-4F16-6716-16AF-DB3C25D68711}"/>
              <p228:anchr>
                <p228:comment id="{E40C7A7C-8295-4E9B-811B-3D090C92DE9A}"/>
              </p228:anchr>
              <p228:add/>
            </p228:event>
            <p228:event time="2026-04-01T01:32:40.520" id="{30FC46E0-DE33-480A-83BC-6059D0A04B17}">
              <p228:atrbtn authorId="{F6566885-4F16-6716-16AF-DB3C25D68711}"/>
              <p228:anchr>
                <p228:comment id="{E40C7A7C-8295-4E9B-811B-3D090C92DE9A}"/>
              </p228:anchr>
              <p228:asgn authorId="{19325239-F15F-F488-7582-A3FBE084CE1A}"/>
            </p228:event>
            <p228:event time="2026-04-01T01:32:40.520" id="{9B76EB40-67B1-4797-BAAC-4E90BC787BA9}">
              <p228:atrbtn authorId="{F6566885-4F16-6716-16AF-DB3C25D68711}"/>
              <p228:anchr>
                <p228:comment id="{E40C7A7C-8295-4E9B-811B-3D090C92DE9A}"/>
              </p228:anchr>
              <p228:title val="@Michael Garza"/>
            </p228:event>
            <p228:event time="2026-04-01T01:32:40.520" id="{7A6AC4F9-AFE9-4930-BA1B-C641094BBDDA}">
              <p228:atrbtn authorId="{F6566885-4F16-6716-16AF-DB3C25D68711}"/>
              <p228:anchr>
                <p228:comment id="{E40C7A7C-8295-4E9B-811B-3D090C92DE9A}"/>
              </p228:anchr>
              <p228:date stDt="2026-04-01T01:32:40.520" endDt="2026-04-01T01:32:40.520"/>
            </p228:event>
            <p228:event time="2026-05-06T16:18:36.501" id="{A5054126-6FDA-4240-8BC3-A447DA5F126F}">
              <p228:atrbtn authorId="{25D689CB-0DCB-F6C2-129D-B39A05FAA930}"/>
              <p228:anchr>
                <p228:comment id="{00000000-0000-0000-0000-000000000000}"/>
              </p228:anchr>
              <p228:pcntCmplt val="100000"/>
            </p228:event>
          </p228:history>
        </p228:taskDetails>
      </p:ext>
    </p188:extLst>
  </p188:cm>
  <p188:cm id="{269777AB-5CF7-4171-9577-643FDBC0D083}" authorId="{F6566885-4F16-6716-16AF-DB3C25D68711}" created="2026-05-06T16:20:52.133">
    <pc:sldMkLst xmlns:pc="http://schemas.microsoft.com/office/powerpoint/2013/main/command">
      <pc:docMk/>
      <pc:sldMk cId="3769184040" sldId="265"/>
    </pc:sldMkLst>
    <p188:txBody>
      <a:bodyPr/>
      <a:lstStyle/>
      <a:p>
        <a:r>
          <a:rPr lang="en-US"/>
          <a:t>Phase 3</a:t>
        </a:r>
      </a:p>
    </p188:txBody>
  </p188:cm>
</p188:cmLst>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854C12-5FCA-46DE-8F2B-76C1C27E9391}"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AFBBC361-DAB4-4CC4-9CCD-9FA852EB4D07}">
      <dgm:prSet/>
      <dgm:spPr/>
      <dgm:t>
        <a:bodyPr/>
        <a:lstStyle/>
        <a:p>
          <a:pPr rtl="0"/>
          <a:r>
            <a:rPr lang="en-US"/>
            <a:t>Run </a:t>
          </a:r>
          <a:r>
            <a:rPr lang="en-US">
              <a:latin typeface="Aptos Display" panose="020F0302020204030204"/>
            </a:rPr>
            <a:t>a</a:t>
          </a:r>
          <a:r>
            <a:rPr lang="en-US"/>
            <a:t> test interaction designed to trigger data handling, logging, etc.</a:t>
          </a:r>
          <a:endParaRPr lang="en-US">
            <a:latin typeface="Aptos Display" panose="020F0302020204030204"/>
          </a:endParaRPr>
        </a:p>
      </dgm:t>
    </dgm:pt>
    <dgm:pt modelId="{9141497E-7A08-465F-A9F7-3AB86D4E0A8A}" type="parTrans" cxnId="{7C4006BD-D319-4C06-93C3-D05D6CB10785}">
      <dgm:prSet/>
      <dgm:spPr/>
      <dgm:t>
        <a:bodyPr/>
        <a:lstStyle/>
        <a:p>
          <a:endParaRPr lang="en-US"/>
        </a:p>
      </dgm:t>
    </dgm:pt>
    <dgm:pt modelId="{A41164B6-C593-4AF4-923F-03D15ACEDC33}" type="sibTrans" cxnId="{7C4006BD-D319-4C06-93C3-D05D6CB10785}">
      <dgm:prSet/>
      <dgm:spPr/>
      <dgm:t>
        <a:bodyPr/>
        <a:lstStyle/>
        <a:p>
          <a:endParaRPr lang="en-US"/>
        </a:p>
      </dgm:t>
    </dgm:pt>
    <dgm:pt modelId="{DE594A38-023F-436D-AB55-21320D2F0D9B}">
      <dgm:prSet phldr="0"/>
      <dgm:spPr/>
      <dgm:t>
        <a:bodyPr/>
        <a:lstStyle/>
        <a:p>
          <a:pPr rtl="0"/>
          <a:r>
            <a:rPr lang="en-US" err="1">
              <a:latin typeface="Aptos Display" panose="020F0302020204030204"/>
            </a:rPr>
            <a:t>MITMProxy</a:t>
          </a:r>
          <a:r>
            <a:rPr lang="en-US">
              <a:latin typeface="Aptos Display" panose="020F0302020204030204"/>
            </a:rPr>
            <a:t> test</a:t>
          </a:r>
          <a:r>
            <a:rPr lang="en-US"/>
            <a:t> interaction and</a:t>
          </a:r>
          <a:r>
            <a:rPr lang="en-US">
              <a:latin typeface="Aptos Display" panose="020F0302020204030204"/>
            </a:rPr>
            <a:t> </a:t>
          </a:r>
          <a:r>
            <a:rPr lang="en-US"/>
            <a:t>how </a:t>
          </a:r>
          <a:r>
            <a:rPr lang="en-US">
              <a:latin typeface="Aptos Display" panose="020F0302020204030204"/>
            </a:rPr>
            <a:t>it</a:t>
          </a:r>
          <a:r>
            <a:rPr lang="en-US"/>
            <a:t> </a:t>
          </a:r>
          <a:r>
            <a:rPr lang="en-US">
              <a:latin typeface="Aptos Display" panose="020F0302020204030204"/>
            </a:rPr>
            <a:t>triggered</a:t>
          </a:r>
          <a:r>
            <a:rPr lang="en-US"/>
            <a:t> logging</a:t>
          </a:r>
          <a:r>
            <a:rPr lang="en-US">
              <a:solidFill>
                <a:srgbClr val="000000"/>
              </a:solidFill>
              <a:latin typeface="Aptos Display" panose="020F0302020204030204"/>
            </a:rPr>
            <a:t>.</a:t>
          </a:r>
          <a:br>
            <a:rPr lang="en-US"/>
          </a:br>
          <a:endParaRPr lang="en-US"/>
        </a:p>
      </dgm:t>
    </dgm:pt>
    <dgm:pt modelId="{BB43B474-6B9E-4958-8A43-4419B8C4DF7D}" type="parTrans" cxnId="{2D4E0235-2F14-44D5-AACA-9FE4F31796F9}">
      <dgm:prSet/>
      <dgm:spPr/>
    </dgm:pt>
    <dgm:pt modelId="{01430441-4BD4-4311-B257-6778DED69D56}" type="sibTrans" cxnId="{2D4E0235-2F14-44D5-AACA-9FE4F31796F9}">
      <dgm:prSet/>
      <dgm:spPr/>
    </dgm:pt>
    <dgm:pt modelId="{7EF6A50F-4110-493C-A80B-7745A0D32AB9}" type="pres">
      <dgm:prSet presAssocID="{DD854C12-5FCA-46DE-8F2B-76C1C27E9391}" presName="outerComposite" presStyleCnt="0">
        <dgm:presLayoutVars>
          <dgm:chMax val="5"/>
          <dgm:dir/>
          <dgm:resizeHandles val="exact"/>
        </dgm:presLayoutVars>
      </dgm:prSet>
      <dgm:spPr/>
    </dgm:pt>
    <dgm:pt modelId="{C249C254-0AF4-4EE5-B06C-023C034EDC30}" type="pres">
      <dgm:prSet presAssocID="{DD854C12-5FCA-46DE-8F2B-76C1C27E9391}" presName="dummyMaxCanvas" presStyleCnt="0">
        <dgm:presLayoutVars/>
      </dgm:prSet>
      <dgm:spPr/>
    </dgm:pt>
    <dgm:pt modelId="{69669BC8-0297-4729-A9EE-107A4CA7259C}" type="pres">
      <dgm:prSet presAssocID="{DD854C12-5FCA-46DE-8F2B-76C1C27E9391}" presName="TwoNodes_1" presStyleLbl="node1" presStyleIdx="0" presStyleCnt="2">
        <dgm:presLayoutVars>
          <dgm:bulletEnabled val="1"/>
        </dgm:presLayoutVars>
      </dgm:prSet>
      <dgm:spPr/>
    </dgm:pt>
    <dgm:pt modelId="{5330CE44-50E8-4863-BD2C-ACDFD0276E2C}" type="pres">
      <dgm:prSet presAssocID="{DD854C12-5FCA-46DE-8F2B-76C1C27E9391}" presName="TwoNodes_2" presStyleLbl="node1" presStyleIdx="1" presStyleCnt="2">
        <dgm:presLayoutVars>
          <dgm:bulletEnabled val="1"/>
        </dgm:presLayoutVars>
      </dgm:prSet>
      <dgm:spPr/>
    </dgm:pt>
    <dgm:pt modelId="{E3986869-4F0D-441D-9634-B4B8E0693EC2}" type="pres">
      <dgm:prSet presAssocID="{DD854C12-5FCA-46DE-8F2B-76C1C27E9391}" presName="TwoConn_1-2" presStyleLbl="fgAccFollowNode1" presStyleIdx="0" presStyleCnt="1">
        <dgm:presLayoutVars>
          <dgm:bulletEnabled val="1"/>
        </dgm:presLayoutVars>
      </dgm:prSet>
      <dgm:spPr/>
    </dgm:pt>
    <dgm:pt modelId="{DE4B645C-2FDB-4450-B7CA-8EA52EEC114D}" type="pres">
      <dgm:prSet presAssocID="{DD854C12-5FCA-46DE-8F2B-76C1C27E9391}" presName="TwoNodes_1_text" presStyleLbl="node1" presStyleIdx="1" presStyleCnt="2">
        <dgm:presLayoutVars>
          <dgm:bulletEnabled val="1"/>
        </dgm:presLayoutVars>
      </dgm:prSet>
      <dgm:spPr/>
    </dgm:pt>
    <dgm:pt modelId="{B581DF09-9EF8-40DF-9A90-61F050F52F0E}" type="pres">
      <dgm:prSet presAssocID="{DD854C12-5FCA-46DE-8F2B-76C1C27E9391}" presName="TwoNodes_2_text" presStyleLbl="node1" presStyleIdx="1" presStyleCnt="2">
        <dgm:presLayoutVars>
          <dgm:bulletEnabled val="1"/>
        </dgm:presLayoutVars>
      </dgm:prSet>
      <dgm:spPr/>
    </dgm:pt>
  </dgm:ptLst>
  <dgm:cxnLst>
    <dgm:cxn modelId="{03AB0911-7B4D-4E57-96BA-513E05782A15}" type="presOf" srcId="{DE594A38-023F-436D-AB55-21320D2F0D9B}" destId="{B581DF09-9EF8-40DF-9A90-61F050F52F0E}" srcOrd="1" destOrd="0" presId="urn:microsoft.com/office/officeart/2005/8/layout/vProcess5"/>
    <dgm:cxn modelId="{BBD4001A-2E49-44FA-9C40-42A296485A77}" type="presOf" srcId="{DD854C12-5FCA-46DE-8F2B-76C1C27E9391}" destId="{7EF6A50F-4110-493C-A80B-7745A0D32AB9}" srcOrd="0" destOrd="0" presId="urn:microsoft.com/office/officeart/2005/8/layout/vProcess5"/>
    <dgm:cxn modelId="{F71A561B-FE36-47C1-8AB4-CD67ACAE6E8B}" type="presOf" srcId="{A41164B6-C593-4AF4-923F-03D15ACEDC33}" destId="{E3986869-4F0D-441D-9634-B4B8E0693EC2}" srcOrd="0" destOrd="0" presId="urn:microsoft.com/office/officeart/2005/8/layout/vProcess5"/>
    <dgm:cxn modelId="{2D4E0235-2F14-44D5-AACA-9FE4F31796F9}" srcId="{DD854C12-5FCA-46DE-8F2B-76C1C27E9391}" destId="{DE594A38-023F-436D-AB55-21320D2F0D9B}" srcOrd="1" destOrd="0" parTransId="{BB43B474-6B9E-4958-8A43-4419B8C4DF7D}" sibTransId="{01430441-4BD4-4311-B257-6778DED69D56}"/>
    <dgm:cxn modelId="{038DBD76-034E-4596-8C41-1258D373DA3A}" type="presOf" srcId="{DE594A38-023F-436D-AB55-21320D2F0D9B}" destId="{5330CE44-50E8-4863-BD2C-ACDFD0276E2C}" srcOrd="0" destOrd="0" presId="urn:microsoft.com/office/officeart/2005/8/layout/vProcess5"/>
    <dgm:cxn modelId="{12C494AF-7068-4308-893F-FFB21226E67A}" type="presOf" srcId="{AFBBC361-DAB4-4CC4-9CCD-9FA852EB4D07}" destId="{DE4B645C-2FDB-4450-B7CA-8EA52EEC114D}" srcOrd="1" destOrd="0" presId="urn:microsoft.com/office/officeart/2005/8/layout/vProcess5"/>
    <dgm:cxn modelId="{7C4006BD-D319-4C06-93C3-D05D6CB10785}" srcId="{DD854C12-5FCA-46DE-8F2B-76C1C27E9391}" destId="{AFBBC361-DAB4-4CC4-9CCD-9FA852EB4D07}" srcOrd="0" destOrd="0" parTransId="{9141497E-7A08-465F-A9F7-3AB86D4E0A8A}" sibTransId="{A41164B6-C593-4AF4-923F-03D15ACEDC33}"/>
    <dgm:cxn modelId="{CB8689DB-515E-4D92-9802-51D494ACCE17}" type="presOf" srcId="{AFBBC361-DAB4-4CC4-9CCD-9FA852EB4D07}" destId="{69669BC8-0297-4729-A9EE-107A4CA7259C}" srcOrd="0" destOrd="0" presId="urn:microsoft.com/office/officeart/2005/8/layout/vProcess5"/>
    <dgm:cxn modelId="{E024B3B9-1D03-444E-8475-59D0F478A571}" type="presParOf" srcId="{7EF6A50F-4110-493C-A80B-7745A0D32AB9}" destId="{C249C254-0AF4-4EE5-B06C-023C034EDC30}" srcOrd="0" destOrd="0" presId="urn:microsoft.com/office/officeart/2005/8/layout/vProcess5"/>
    <dgm:cxn modelId="{B7103D2D-1F71-4BC2-B1B8-2BAAEF63D600}" type="presParOf" srcId="{7EF6A50F-4110-493C-A80B-7745A0D32AB9}" destId="{69669BC8-0297-4729-A9EE-107A4CA7259C}" srcOrd="1" destOrd="0" presId="urn:microsoft.com/office/officeart/2005/8/layout/vProcess5"/>
    <dgm:cxn modelId="{FE941B68-3B2C-43D9-A02A-6F12EDA7B250}" type="presParOf" srcId="{7EF6A50F-4110-493C-A80B-7745A0D32AB9}" destId="{5330CE44-50E8-4863-BD2C-ACDFD0276E2C}" srcOrd="2" destOrd="0" presId="urn:microsoft.com/office/officeart/2005/8/layout/vProcess5"/>
    <dgm:cxn modelId="{BCED117A-F487-47F9-A84C-496977B14DA0}" type="presParOf" srcId="{7EF6A50F-4110-493C-A80B-7745A0D32AB9}" destId="{E3986869-4F0D-441D-9634-B4B8E0693EC2}" srcOrd="3" destOrd="0" presId="urn:microsoft.com/office/officeart/2005/8/layout/vProcess5"/>
    <dgm:cxn modelId="{6F2BB392-83AF-45A4-B5B9-1C1FED08EEDB}" type="presParOf" srcId="{7EF6A50F-4110-493C-A80B-7745A0D32AB9}" destId="{DE4B645C-2FDB-4450-B7CA-8EA52EEC114D}" srcOrd="4" destOrd="0" presId="urn:microsoft.com/office/officeart/2005/8/layout/vProcess5"/>
    <dgm:cxn modelId="{E151203D-CD1E-4870-8FE2-8BB4F78F7952}" type="presParOf" srcId="{7EF6A50F-4110-493C-A80B-7745A0D32AB9}" destId="{B581DF09-9EF8-40DF-9A90-61F050F52F0E}"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69BC8-0297-4729-A9EE-107A4CA7259C}">
      <dsp:nvSpPr>
        <dsp:cNvPr id="0" name=""/>
        <dsp:cNvSpPr/>
      </dsp:nvSpPr>
      <dsp:spPr>
        <a:xfrm>
          <a:off x="0" y="0"/>
          <a:ext cx="4794854" cy="799918"/>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a:t>Run </a:t>
          </a:r>
          <a:r>
            <a:rPr lang="en-US" sz="1500" kern="1200">
              <a:latin typeface="Aptos Display" panose="020F0302020204030204"/>
            </a:rPr>
            <a:t>a</a:t>
          </a:r>
          <a:r>
            <a:rPr lang="en-US" sz="1500" kern="1200"/>
            <a:t> test interaction designed to trigger data handling, logging, etc.</a:t>
          </a:r>
          <a:endParaRPr lang="en-US" sz="1500" kern="1200">
            <a:latin typeface="Aptos Display" panose="020F0302020204030204"/>
          </a:endParaRPr>
        </a:p>
      </dsp:txBody>
      <dsp:txXfrm>
        <a:off x="23429" y="23429"/>
        <a:ext cx="3968076" cy="753060"/>
      </dsp:txXfrm>
    </dsp:sp>
    <dsp:sp modelId="{5330CE44-50E8-4863-BD2C-ACDFD0276E2C}">
      <dsp:nvSpPr>
        <dsp:cNvPr id="0" name=""/>
        <dsp:cNvSpPr/>
      </dsp:nvSpPr>
      <dsp:spPr>
        <a:xfrm>
          <a:off x="846150" y="977677"/>
          <a:ext cx="4794854" cy="799918"/>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err="1">
              <a:latin typeface="Aptos Display" panose="020F0302020204030204"/>
            </a:rPr>
            <a:t>MITMProxy</a:t>
          </a:r>
          <a:r>
            <a:rPr lang="en-US" sz="1500" kern="1200">
              <a:latin typeface="Aptos Display" panose="020F0302020204030204"/>
            </a:rPr>
            <a:t> test</a:t>
          </a:r>
          <a:r>
            <a:rPr lang="en-US" sz="1500" kern="1200"/>
            <a:t> interaction and</a:t>
          </a:r>
          <a:r>
            <a:rPr lang="en-US" sz="1500" kern="1200">
              <a:latin typeface="Aptos Display" panose="020F0302020204030204"/>
            </a:rPr>
            <a:t> </a:t>
          </a:r>
          <a:r>
            <a:rPr lang="en-US" sz="1500" kern="1200"/>
            <a:t>how </a:t>
          </a:r>
          <a:r>
            <a:rPr lang="en-US" sz="1500" kern="1200">
              <a:latin typeface="Aptos Display" panose="020F0302020204030204"/>
            </a:rPr>
            <a:t>it</a:t>
          </a:r>
          <a:r>
            <a:rPr lang="en-US" sz="1500" kern="1200"/>
            <a:t> </a:t>
          </a:r>
          <a:r>
            <a:rPr lang="en-US" sz="1500" kern="1200">
              <a:latin typeface="Aptos Display" panose="020F0302020204030204"/>
            </a:rPr>
            <a:t>triggered</a:t>
          </a:r>
          <a:r>
            <a:rPr lang="en-US" sz="1500" kern="1200"/>
            <a:t> logging</a:t>
          </a:r>
          <a:r>
            <a:rPr lang="en-US" sz="1500" kern="1200">
              <a:solidFill>
                <a:srgbClr val="000000"/>
              </a:solidFill>
              <a:latin typeface="Aptos Display" panose="020F0302020204030204"/>
            </a:rPr>
            <a:t>.</a:t>
          </a:r>
          <a:br>
            <a:rPr lang="en-US" sz="1500" kern="1200"/>
          </a:br>
          <a:endParaRPr lang="en-US" sz="1500" kern="1200"/>
        </a:p>
      </dsp:txBody>
      <dsp:txXfrm>
        <a:off x="869579" y="1001106"/>
        <a:ext cx="3381898" cy="753060"/>
      </dsp:txXfrm>
    </dsp:sp>
    <dsp:sp modelId="{E3986869-4F0D-441D-9634-B4B8E0693EC2}">
      <dsp:nvSpPr>
        <dsp:cNvPr id="0" name=""/>
        <dsp:cNvSpPr/>
      </dsp:nvSpPr>
      <dsp:spPr>
        <a:xfrm>
          <a:off x="4274907" y="628824"/>
          <a:ext cx="519946" cy="519946"/>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4391895" y="628824"/>
        <a:ext cx="285970" cy="391259"/>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043DB6-C6DB-4EBE-858D-9A95398BF4CA}" type="datetimeFigureOut">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61FF0-4673-4651-BDDF-259B146DDC3A}" type="slidenum">
              <a:t>‹#›</a:t>
            </a:fld>
            <a:endParaRPr lang="en-US"/>
          </a:p>
        </p:txBody>
      </p:sp>
    </p:spTree>
    <p:extLst>
      <p:ext uri="{BB962C8B-B14F-4D97-AF65-F5344CB8AC3E}">
        <p14:creationId xmlns:p14="http://schemas.microsoft.com/office/powerpoint/2010/main" val="2976792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    -</a:t>
            </a:r>
            <a:r>
              <a:rPr lang="en-US" b="1" u="sng">
                <a:ea typeface="Calibri"/>
                <a:cs typeface="Calibri"/>
              </a:rPr>
              <a:t>Data Compliance Monitoring and Segmentation</a:t>
            </a:r>
            <a:endParaRPr lang="en-US" b="1" u="sng"/>
          </a:p>
          <a:p>
            <a:r>
              <a:rPr lang="en-US"/>
              <a:t>-In a modern healthcare environment, the greatest threat isn't always an outside attacker—it’s often internal 'Data Sprawl.' By removing the Attacker node, we’ve pivoted our architecture to demonstrate </a:t>
            </a:r>
            <a:r>
              <a:rPr lang="en-US" b="1"/>
              <a:t>Zero-Trust </a:t>
            </a:r>
            <a:r>
              <a:rPr lang="en-US" b="1" err="1"/>
              <a:t>Microsegmentation</a:t>
            </a:r>
            <a:r>
              <a:rPr lang="en-US"/>
              <a:t>. We have physically and logically separated our 'Processing' layer (Ubuntu) from our 'Audit' layer (</a:t>
            </a:r>
            <a:r>
              <a:rPr lang="en-US" err="1"/>
              <a:t>MITMProxy</a:t>
            </a:r>
            <a:r>
              <a:rPr lang="en-US"/>
              <a:t>).</a:t>
            </a:r>
            <a:endParaRPr lang="en-US">
              <a:ea typeface="Calibri"/>
              <a:cs typeface="Calibri"/>
            </a:endParaRPr>
          </a:p>
          <a:p>
            <a:endParaRPr lang="en-US">
              <a:ea typeface="Calibri"/>
              <a:cs typeface="Calibri"/>
            </a:endParaRPr>
          </a:p>
          <a:p>
            <a:r>
              <a:rPr lang="en-US">
                <a:ea typeface="Calibri"/>
                <a:cs typeface="Calibri"/>
              </a:rPr>
              <a:t>    -</a:t>
            </a:r>
            <a:r>
              <a:rPr lang="en-US" b="1" u="sng">
                <a:ea typeface="Calibri"/>
                <a:cs typeface="Calibri"/>
              </a:rPr>
              <a:t>VLAN Separation:</a:t>
            </a:r>
          </a:p>
          <a:p>
            <a:r>
              <a:rPr lang="en-US">
                <a:ea typeface="Calibri"/>
                <a:cs typeface="Calibri"/>
              </a:rPr>
              <a:t>-</a:t>
            </a:r>
            <a:r>
              <a:rPr lang="en-US"/>
              <a:t>Notice the separation between </a:t>
            </a:r>
            <a:r>
              <a:rPr lang="en-US" b="1"/>
              <a:t>VLAN 10</a:t>
            </a:r>
            <a:r>
              <a:rPr lang="en-US"/>
              <a:t> and </a:t>
            </a:r>
            <a:r>
              <a:rPr lang="en-US" b="1"/>
              <a:t>VLAN 20</a:t>
            </a:r>
            <a:r>
              <a:rPr lang="en-US"/>
              <a:t>. By keeping our Gemini analysis node on its own VLAN, we ensure that no other service on the network can 'sniff' the sensitive patient data we are processing. The only way in or out of that segment is through the </a:t>
            </a:r>
            <a:r>
              <a:rPr lang="en-US" b="1" err="1"/>
              <a:t>VyOS</a:t>
            </a:r>
            <a:r>
              <a:rPr lang="en-US" b="1"/>
              <a:t> Router</a:t>
            </a:r>
            <a:r>
              <a:rPr lang="en-US"/>
              <a:t>, which acts as our Policy Enforcement Point.</a:t>
            </a:r>
            <a:endParaRPr lang="en-US">
              <a:ea typeface="Calibri"/>
              <a:cs typeface="Calibri"/>
            </a:endParaRPr>
          </a:p>
          <a:p>
            <a:endParaRPr lang="en-US">
              <a:ea typeface="Calibri"/>
              <a:cs typeface="Calibri"/>
            </a:endParaRPr>
          </a:p>
          <a:p>
            <a:r>
              <a:rPr lang="en-US">
                <a:ea typeface="Calibri"/>
                <a:cs typeface="Calibri"/>
              </a:rPr>
              <a:t>   -</a:t>
            </a:r>
            <a:r>
              <a:rPr lang="en-US" b="1" u="sng">
                <a:ea typeface="Calibri"/>
                <a:cs typeface="Calibri"/>
              </a:rPr>
              <a:t>Traffic Flow</a:t>
            </a:r>
          </a:p>
          <a:p>
            <a:r>
              <a:rPr lang="en-US">
                <a:ea typeface="Calibri"/>
                <a:cs typeface="Calibri"/>
              </a:rPr>
              <a:t>-</a:t>
            </a:r>
            <a:r>
              <a:rPr lang="en-US"/>
              <a:t>The traffic flow here is strictly controlled. When our Ubuntu node sends a prompt to Gemini, the </a:t>
            </a:r>
            <a:r>
              <a:rPr lang="en-US" err="1"/>
              <a:t>VyOS</a:t>
            </a:r>
            <a:r>
              <a:rPr lang="en-US"/>
              <a:t> router intercepts that packet and forces it through the </a:t>
            </a:r>
            <a:r>
              <a:rPr lang="en-US" err="1"/>
              <a:t>MITMProxy</a:t>
            </a:r>
            <a:r>
              <a:rPr lang="en-US"/>
              <a:t> on a separate subnet. This 'Hairpin' routing ensures that every single bit of data is inspected for HIPAA compliance before it ever leaves our virtual hospital.</a:t>
            </a:r>
            <a:endParaRPr lang="en-US">
              <a:ea typeface="Calibri"/>
              <a:cs typeface="Calibri"/>
            </a:endParaRPr>
          </a:p>
          <a:p>
            <a:endParaRPr lang="en-US">
              <a:ea typeface="Calibri"/>
              <a:cs typeface="Calibri"/>
            </a:endParaRPr>
          </a:p>
          <a:p>
            <a:r>
              <a:rPr lang="en-US">
                <a:ea typeface="Calibri"/>
                <a:cs typeface="Calibri"/>
              </a:rPr>
              <a:t>   -</a:t>
            </a:r>
            <a:r>
              <a:rPr lang="en-US" b="1" u="sng">
                <a:ea typeface="Calibri"/>
                <a:cs typeface="Calibri"/>
              </a:rPr>
              <a:t>Security Value</a:t>
            </a:r>
          </a:p>
          <a:p>
            <a:r>
              <a:rPr lang="en-US">
                <a:ea typeface="Calibri"/>
                <a:cs typeface="Calibri"/>
              </a:rPr>
              <a:t>-</a:t>
            </a:r>
            <a:r>
              <a:rPr lang="en-US"/>
              <a:t>This demonstration proves that even without an active threat present, the Architecture itself is a security control. By using subnets like 10.0.10.x and 10.0.20.x, we've created a predictable, auditable network where 'unknown' or 'shadow' traffic is blocked by default.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23861FF0-4673-4651-BDDF-259B146DDC3A}" type="slidenum">
              <a:t>6</a:t>
            </a:fld>
            <a:endParaRPr lang="en-US"/>
          </a:p>
        </p:txBody>
      </p:sp>
    </p:spTree>
    <p:extLst>
      <p:ext uri="{BB962C8B-B14F-4D97-AF65-F5344CB8AC3E}">
        <p14:creationId xmlns:p14="http://schemas.microsoft.com/office/powerpoint/2010/main" val="129302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Virtual Laboratory Framework</a:t>
            </a:r>
            <a:r>
              <a:rPr lang="en-US"/>
              <a:t>: The entire environment is deployed within a </a:t>
            </a:r>
            <a:r>
              <a:rPr lang="en-US" b="1"/>
              <a:t>Type-2 Hypervisor (VirtualBox)</a:t>
            </a:r>
            <a:r>
              <a:rPr lang="en-US"/>
              <a:t>, providing a hardware-abstracted layer that ensures the simulation is isolated from any production host environment.</a:t>
            </a:r>
          </a:p>
          <a:p>
            <a:pPr marL="285750" indent="-285750">
              <a:buFont typeface="Arial"/>
              <a:buChar char="•"/>
            </a:pPr>
            <a:r>
              <a:rPr lang="en-US" b="1"/>
              <a:t>Centralized Network Management (</a:t>
            </a:r>
            <a:r>
              <a:rPr lang="en-US" b="1" err="1"/>
              <a:t>VyOS</a:t>
            </a:r>
            <a:r>
              <a:rPr lang="en-US" b="1"/>
              <a:t>)</a:t>
            </a:r>
            <a:r>
              <a:rPr lang="en-US"/>
              <a:t>: A dedicated </a:t>
            </a:r>
            <a:r>
              <a:rPr lang="en-US" b="1" err="1"/>
              <a:t>VyOS</a:t>
            </a:r>
            <a:r>
              <a:rPr lang="en-US" b="1"/>
              <a:t> Network Appliance</a:t>
            </a:r>
            <a:r>
              <a:rPr lang="en-US"/>
              <a:t> serves as the core "Network Operating System," handling all routing, inter-VLAN communication, and firewall policy enforcement between the testing nodes.</a:t>
            </a:r>
            <a:endParaRPr lang="en-US">
              <a:ea typeface="Calibri"/>
              <a:cs typeface="Calibri"/>
            </a:endParaRPr>
          </a:p>
          <a:p>
            <a:pPr>
              <a:buFont typeface="Arial"/>
              <a:buChar char="•"/>
            </a:pPr>
            <a:r>
              <a:rPr lang="en-US" err="1"/>
              <a:t>VyOS</a:t>
            </a:r>
            <a:r>
              <a:rPr lang="en-US"/>
              <a:t> is an open-source Network Operating System (NOS) based on Debian GNU/Linux that provides a professional-grade, software-based router, firewall, and VPN platform.</a:t>
            </a:r>
            <a:endParaRPr lang="en-US">
              <a:ea typeface="Calibri"/>
              <a:cs typeface="Calibri"/>
            </a:endParaRPr>
          </a:p>
          <a:p>
            <a:pPr>
              <a:buFont typeface="Arial"/>
              <a:buChar char="•"/>
            </a:pPr>
            <a:r>
              <a:rPr lang="en-US"/>
              <a:t> </a:t>
            </a:r>
            <a:endParaRPr lang="en-US">
              <a:ea typeface="Calibri"/>
              <a:cs typeface="Calibri"/>
            </a:endParaRPr>
          </a:p>
          <a:p>
            <a:pPr>
              <a:buFont typeface="Arial"/>
              <a:buChar char="•"/>
            </a:pPr>
            <a:r>
              <a:rPr lang="en-US"/>
              <a:t>Unlike traditional hardware routers from companies like Cisco or Juniper, </a:t>
            </a:r>
            <a:r>
              <a:rPr lang="en-US" err="1"/>
              <a:t>VyOS</a:t>
            </a:r>
            <a:r>
              <a:rPr lang="en-US"/>
              <a:t> is designed to run on any virtual or physical hardware (x86-64), making it a popular choice for cloud environments, service providers, and complex lab simulations like yours.</a:t>
            </a:r>
            <a:endParaRPr lang="en-US">
              <a:ea typeface="Calibri"/>
              <a:cs typeface="Calibri"/>
            </a:endParaRPr>
          </a:p>
          <a:p>
            <a:pPr>
              <a:buFont typeface="Arial"/>
              <a:buChar char="•"/>
            </a:pPr>
            <a:r>
              <a:rPr lang="en-US"/>
              <a:t> </a:t>
            </a:r>
            <a:endParaRPr lang="en-US">
              <a:ea typeface="Calibri"/>
              <a:cs typeface="Calibri"/>
            </a:endParaRPr>
          </a:p>
          <a:p>
            <a:pPr>
              <a:buFont typeface="Arial"/>
              <a:buChar char="•"/>
            </a:pPr>
            <a:r>
              <a:rPr lang="en-US"/>
              <a:t>Key Roles in Your Healthcare Lab</a:t>
            </a:r>
          </a:p>
          <a:p>
            <a:pPr>
              <a:buFont typeface="Arial"/>
              <a:buChar char="•"/>
            </a:pPr>
            <a:r>
              <a:rPr lang="en-US"/>
              <a:t>In your specific project, </a:t>
            </a:r>
            <a:r>
              <a:rPr lang="en-US" err="1"/>
              <a:t>VyOS</a:t>
            </a:r>
            <a:r>
              <a:rPr lang="en-US"/>
              <a:t> isn't just a "router"—it serves as your Centralized Security Gateway. It is the "brain" that manages the following functions:</a:t>
            </a:r>
            <a:endParaRPr lang="en-US">
              <a:ea typeface="Calibri"/>
              <a:cs typeface="Calibri"/>
            </a:endParaRPr>
          </a:p>
          <a:p>
            <a:pPr>
              <a:buFont typeface="Arial"/>
              <a:buChar char="•"/>
            </a:pPr>
            <a:r>
              <a:rPr lang="en-US"/>
              <a:t> </a:t>
            </a:r>
            <a:endParaRPr lang="en-US">
              <a:ea typeface="Calibri"/>
              <a:cs typeface="Calibri"/>
            </a:endParaRPr>
          </a:p>
          <a:p>
            <a:pPr>
              <a:buFont typeface="Arial"/>
              <a:buChar char="•"/>
            </a:pPr>
            <a:r>
              <a:rPr lang="en-US"/>
              <a:t>Inter-VLAN Routing: It bridges the communication between your Clinical Zone (VLAN 10) and your Audit Zone (VLAN 20). Without </a:t>
            </a:r>
            <a:r>
              <a:rPr lang="en-US" err="1"/>
              <a:t>VyOS</a:t>
            </a:r>
            <a:r>
              <a:rPr lang="en-US"/>
              <a:t>, these subnets would be completely deaf to each other.</a:t>
            </a:r>
            <a:endParaRPr lang="en-US">
              <a:ea typeface="Calibri"/>
              <a:cs typeface="Calibri"/>
            </a:endParaRPr>
          </a:p>
          <a:p>
            <a:pPr>
              <a:buFont typeface="Arial"/>
              <a:buChar char="•"/>
            </a:pPr>
            <a:r>
              <a:rPr lang="en-US"/>
              <a:t> </a:t>
            </a:r>
            <a:endParaRPr lang="en-US">
              <a:ea typeface="Calibri"/>
              <a:cs typeface="Calibri"/>
            </a:endParaRPr>
          </a:p>
          <a:p>
            <a:pPr>
              <a:buFont typeface="Arial"/>
              <a:buChar char="•"/>
            </a:pPr>
            <a:r>
              <a:rPr lang="en-US"/>
              <a:t>Traffic Interception: </a:t>
            </a:r>
            <a:r>
              <a:rPr lang="en-US" err="1"/>
              <a:t>VyOS</a:t>
            </a:r>
            <a:r>
              <a:rPr lang="en-US"/>
              <a:t> is configured to catch any data leaving the Ubuntu workstation and "force" it through the </a:t>
            </a:r>
            <a:r>
              <a:rPr lang="en-US" err="1"/>
              <a:t>MITMProxy</a:t>
            </a:r>
            <a:r>
              <a:rPr lang="en-US"/>
              <a:t>. This ensures that no data escapes your "Compliance Tunnel" without being inspected first.</a:t>
            </a:r>
            <a:endParaRPr lang="en-US">
              <a:ea typeface="Calibri"/>
              <a:cs typeface="Calibri"/>
            </a:endParaRPr>
          </a:p>
          <a:p>
            <a:pPr>
              <a:buFont typeface="Arial"/>
              <a:buChar char="•"/>
            </a:pPr>
            <a:r>
              <a:rPr lang="en-US"/>
              <a:t> </a:t>
            </a:r>
            <a:endParaRPr lang="en-US">
              <a:ea typeface="Calibri"/>
              <a:cs typeface="Calibri"/>
            </a:endParaRPr>
          </a:p>
          <a:p>
            <a:pPr>
              <a:buFont typeface="Arial"/>
              <a:buChar char="•"/>
            </a:pPr>
            <a:r>
              <a:rPr lang="en-US"/>
              <a:t>Firewall Policy Enforcement: It uses a Zone-Based Firewall to strictly define what traffic is allowed. For example, you can set a rule that says "Only the Ubuntu node can talk to the Proxy," effectively blocking any other unauthorized traffic.</a:t>
            </a:r>
            <a:endParaRPr lang="en-US">
              <a:ea typeface="Calibri"/>
              <a:cs typeface="Calibri"/>
            </a:endParaRPr>
          </a:p>
          <a:p>
            <a:pPr>
              <a:buFont typeface="Arial"/>
              <a:buChar char="•"/>
            </a:pPr>
            <a:r>
              <a:rPr lang="en-US"/>
              <a:t> </a:t>
            </a:r>
            <a:endParaRPr lang="en-US">
              <a:ea typeface="Calibri"/>
              <a:cs typeface="Calibri"/>
            </a:endParaRPr>
          </a:p>
          <a:p>
            <a:pPr>
              <a:buFont typeface="Arial"/>
              <a:buChar char="•"/>
            </a:pPr>
            <a:r>
              <a:rPr lang="en-US"/>
              <a:t>Network Address Translation (NAT): It provides the internal virtual nodes with access to the real internet so they can reach the Gemini API while keeping their internal IP addresses hidden.</a:t>
            </a:r>
          </a:p>
          <a:p>
            <a:pPr>
              <a:buFont typeface="Arial"/>
              <a:buChar char="•"/>
            </a:pPr>
            <a:r>
              <a:rPr lang="en-US"/>
              <a:t> </a:t>
            </a:r>
            <a:endParaRPr lang="en-US">
              <a:ea typeface="Calibri"/>
              <a:cs typeface="Calibri"/>
            </a:endParaRPr>
          </a:p>
          <a:p>
            <a:pPr>
              <a:buFont typeface="Arial"/>
              <a:buChar char="•"/>
            </a:pPr>
            <a:r>
              <a:rPr lang="en-US"/>
              <a:t>Why </a:t>
            </a:r>
            <a:r>
              <a:rPr lang="en-US" err="1"/>
              <a:t>VyOS</a:t>
            </a:r>
            <a:r>
              <a:rPr lang="en-US"/>
              <a:t> is Preferred for Your Senior Project</a:t>
            </a:r>
            <a:endParaRPr lang="en-US">
              <a:ea typeface="Calibri"/>
              <a:cs typeface="Calibri"/>
            </a:endParaRPr>
          </a:p>
          <a:p>
            <a:pPr>
              <a:buFont typeface="Arial"/>
              <a:buChar char="•"/>
            </a:pPr>
            <a:r>
              <a:rPr lang="en-US"/>
              <a:t>Unified CLI: It uses a specialized Command Line Interface (CLI) that is similar to high-end enterprise routers (like Juniper's </a:t>
            </a:r>
            <a:r>
              <a:rPr lang="en-US" err="1"/>
              <a:t>JunOS</a:t>
            </a:r>
            <a:r>
              <a:rPr lang="en-US"/>
              <a:t>). This allows you to manage routing, firewalling, and VPNs all in one place.</a:t>
            </a:r>
            <a:endParaRPr lang="en-US">
              <a:ea typeface="Calibri"/>
              <a:cs typeface="Calibri"/>
            </a:endParaRPr>
          </a:p>
          <a:p>
            <a:pPr>
              <a:buFont typeface="Arial"/>
              <a:buChar char="•"/>
            </a:pPr>
            <a:r>
              <a:rPr lang="en-US"/>
              <a:t> </a:t>
            </a:r>
            <a:endParaRPr lang="en-US">
              <a:ea typeface="Calibri"/>
              <a:cs typeface="Calibri"/>
            </a:endParaRPr>
          </a:p>
          <a:p>
            <a:pPr>
              <a:buFont typeface="Arial"/>
              <a:buChar char="•"/>
            </a:pPr>
            <a:r>
              <a:rPr lang="en-US"/>
              <a:t>Automation-Friendly: It supports tools like Ansible and Terraform, which is great if you want to mention "Infrastructure as Code" in your presentation.</a:t>
            </a:r>
          </a:p>
          <a:p>
            <a:pPr>
              <a:buFont typeface="Arial"/>
              <a:buChar char="•"/>
            </a:pPr>
            <a:endParaRPr lang="en-US">
              <a:ea typeface="Calibri"/>
              <a:cs typeface="Calibri"/>
            </a:endParaRPr>
          </a:p>
          <a:p>
            <a:pPr>
              <a:buFont typeface="Arial"/>
              <a:buChar char="•"/>
            </a:pPr>
            <a:r>
              <a:rPr lang="en-US"/>
              <a:t>No Hardware Lock-in: Since it's software-based, you can run this entire enterprise-grade network directly inside VirtualBox or GNS3 without needing expensive physical switches.</a:t>
            </a:r>
            <a:endParaRPr lang="en-US">
              <a:ea typeface="Calibri"/>
              <a:cs typeface="Calibri"/>
            </a:endParaRPr>
          </a:p>
          <a:p>
            <a:pPr>
              <a:buFont typeface="Arial"/>
              <a:buChar char="•"/>
            </a:pPr>
            <a:endParaRPr lang="en-US"/>
          </a:p>
          <a:p>
            <a:pPr marL="285750" indent="-285750">
              <a:buFont typeface="Arial"/>
              <a:buChar char="•"/>
            </a:pPr>
            <a:r>
              <a:rPr lang="en-US"/>
              <a:t>Presentation Tip: When the judges ask why you chose </a:t>
            </a:r>
            <a:r>
              <a:rPr lang="en-US" err="1"/>
              <a:t>VyOS</a:t>
            </a:r>
            <a:r>
              <a:rPr lang="en-US"/>
              <a:t>, tell them: "We chose </a:t>
            </a:r>
            <a:r>
              <a:rPr lang="en-US" err="1"/>
              <a:t>VyOS</a:t>
            </a:r>
            <a:r>
              <a:rPr lang="en-US"/>
              <a:t> because it provides a carrier-grade, open-source platform that allows us to implement the same Zero-Trust segmentation and traffic inspection found in a modern hospital's data center."</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23861FF0-4673-4651-BDDF-259B146DDC3A}" type="slidenum">
              <a:t>7</a:t>
            </a:fld>
            <a:endParaRPr lang="en-US"/>
          </a:p>
        </p:txBody>
      </p:sp>
    </p:spTree>
    <p:extLst>
      <p:ext uri="{BB962C8B-B14F-4D97-AF65-F5344CB8AC3E}">
        <p14:creationId xmlns:p14="http://schemas.microsoft.com/office/powerpoint/2010/main" val="3559582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microsoft.com/office/2018/10/relationships/comments" Target="../comments/modernComment_101_889487D8.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microsoft.com/office/2018/10/relationships/comments" Target="../comments/modernComment_10C_FCFFC000.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05_45DF8878.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3_3859AD89.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A255E58C.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04_1EBCCB0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microsoft.com/office/2018/10/relationships/comments" Target="../comments/modernComment_107_E868383F.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09_E0A92F2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02_4F1BA59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10A_D078FA9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services.google.com/fh/files/misc/gsuite_cloud_identity_hipaa_implementation_guide.pdf" TargetMode="External"/><Relationship Id="rId3" Type="http://schemas.openxmlformats.org/officeDocument/2006/relationships/hyperlink" Target="https://research.google/blog/advancing-medical-ai-with-med-gemini/" TargetMode="External"/><Relationship Id="rId7" Type="http://schemas.openxmlformats.org/officeDocument/2006/relationships/hyperlink" Target="https://storage.googleapis.com/deepmind-media/gemini/gemini_3_pro_fsf_report.pdf" TargetMode="External"/><Relationship Id="rId2" Type="http://schemas.openxmlformats.org/officeDocument/2006/relationships/hyperlink" Target="https://censinet.com/perspectives/texas-medical-records-privacy-act-ultimate-guide" TargetMode="External"/><Relationship Id="rId1" Type="http://schemas.openxmlformats.org/officeDocument/2006/relationships/slideLayout" Target="../slideLayouts/slideLayout2.xml"/><Relationship Id="rId6" Type="http://schemas.openxmlformats.org/officeDocument/2006/relationships/hyperlink" Target="https://docs.cloud.google.com/gemini-enterprise-agent-platform/models/security-controls?utm_source=chatgpt.com" TargetMode="External"/><Relationship Id="rId11" Type="http://schemas.openxmlformats.org/officeDocument/2006/relationships/hyperlink" Target="https://www.texasbar.com/AM/Template.cfm?Section=articles&amp;ContentID=69386&amp;Template=/CM/HTMLDisplay.cfm" TargetMode="External"/><Relationship Id="rId5" Type="http://schemas.openxmlformats.org/officeDocument/2006/relationships/hyperlink" Target="https://docs.cloud.google.com/gemini/enterprise/docs/security-overview?utm_source=chatgpt.com" TargetMode="External"/><Relationship Id="rId10" Type="http://schemas.openxmlformats.org/officeDocument/2006/relationships/hyperlink" Target="https://mitmproxy.org/" TargetMode="External"/><Relationship Id="rId4" Type="http://schemas.openxmlformats.org/officeDocument/2006/relationships/hyperlink" Target="https://investor.gehealthcare.com/news-releases/news-release-details/ge-healthcare-and-mayo-clinic-unveil-gemini-rt-bold-research/" TargetMode="External"/><Relationship Id="rId9" Type="http://schemas.openxmlformats.org/officeDocument/2006/relationships/hyperlink" Target="https://www.hipaajournal.com/what-is-texas-hb-30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PYMNTS | Google Unveils New Gemini Live AI Assistant for Mobile Devic…">
            <a:extLst>
              <a:ext uri="{FF2B5EF4-FFF2-40B4-BE49-F238E27FC236}">
                <a16:creationId xmlns:a16="http://schemas.microsoft.com/office/drawing/2014/main" id="{DA935DAB-56B8-4F41-845B-F10BA62BC155}"/>
              </a:ext>
            </a:extLst>
          </p:cNvPr>
          <p:cNvPicPr>
            <a:picLocks noChangeAspect="1"/>
          </p:cNvPicPr>
          <p:nvPr/>
        </p:nvPicPr>
        <p:blipFill>
          <a:blip r:embed="rId2">
            <a:alphaModFix amt="50000"/>
          </a:blip>
          <a:srcRect b="6250"/>
          <a:stretch>
            <a:fillRect/>
          </a:stretch>
        </p:blipFill>
        <p:spPr>
          <a:xfrm>
            <a:off x="20" y="1"/>
            <a:ext cx="12191980" cy="6857999"/>
          </a:xfrm>
          <a:prstGeom prst="rect">
            <a:avLst/>
          </a:prstGeom>
        </p:spPr>
      </p:pic>
      <p:sp>
        <p:nvSpPr>
          <p:cNvPr id="2" name="Title 1"/>
          <p:cNvSpPr>
            <a:spLocks noGrp="1"/>
          </p:cNvSpPr>
          <p:nvPr>
            <p:ph type="ctrTitle"/>
          </p:nvPr>
        </p:nvSpPr>
        <p:spPr>
          <a:xfrm>
            <a:off x="937172" y="1385121"/>
            <a:ext cx="6289344" cy="2900518"/>
          </a:xfrm>
        </p:spPr>
        <p:txBody>
          <a:bodyPr vert="horz" lIns="91440" tIns="45720" rIns="91440" bIns="45720" rtlCol="0">
            <a:normAutofit fontScale="90000"/>
          </a:bodyPr>
          <a:lstStyle/>
          <a:p>
            <a:br>
              <a:rPr lang="en-US" sz="5600" b="1" kern="1200">
                <a:latin typeface="Times New Roman"/>
                <a:cs typeface="Times New Roman"/>
              </a:rPr>
            </a:br>
            <a:r>
              <a:rPr lang="en-US" sz="5600" b="1" kern="1200">
                <a:solidFill>
                  <a:srgbClr val="FFFFFF"/>
                </a:solidFill>
                <a:latin typeface="Times New Roman"/>
                <a:cs typeface="Times New Roman"/>
              </a:rPr>
              <a:t>Healthcare Privacy Analysis of Google Gemini Ai </a:t>
            </a:r>
          </a:p>
          <a:p>
            <a:endParaRPr lang="en-US" sz="5600" kern="1200">
              <a:solidFill>
                <a:srgbClr val="FFFFFF"/>
              </a:solidFill>
              <a:latin typeface="+mj-lt"/>
              <a:ea typeface="+mj-ea"/>
              <a:cs typeface="+mj-cs"/>
            </a:endParaRPr>
          </a:p>
        </p:txBody>
      </p:sp>
      <p:sp>
        <p:nvSpPr>
          <p:cNvPr id="3" name="Subtitle 2"/>
          <p:cNvSpPr>
            <a:spLocks noGrp="1"/>
          </p:cNvSpPr>
          <p:nvPr>
            <p:ph type="subTitle" idx="1"/>
          </p:nvPr>
        </p:nvSpPr>
        <p:spPr>
          <a:xfrm>
            <a:off x="1313793" y="4641128"/>
            <a:ext cx="9144000" cy="1098395"/>
          </a:xfrm>
        </p:spPr>
        <p:txBody>
          <a:bodyPr vert="horz" lIns="91440" tIns="45720" rIns="91440" bIns="45720" rtlCol="0" anchor="t">
            <a:noAutofit/>
          </a:bodyPr>
          <a:lstStyle/>
          <a:p>
            <a:r>
              <a:rPr lang="en-US" sz="1400">
                <a:solidFill>
                  <a:srgbClr val="FFFFFF"/>
                </a:solidFill>
                <a:latin typeface="Times New Roman"/>
                <a:cs typeface="Times New Roman"/>
              </a:rPr>
              <a:t>Group 1 </a:t>
            </a:r>
            <a:endParaRPr lang="en-US" sz="1400">
              <a:latin typeface="Times New Roman"/>
              <a:cs typeface="Times New Roman"/>
            </a:endParaRPr>
          </a:p>
          <a:p>
            <a:r>
              <a:rPr lang="en-US" sz="1400">
                <a:solidFill>
                  <a:srgbClr val="FFFFFF"/>
                </a:solidFill>
                <a:latin typeface="Times New Roman"/>
                <a:cs typeface="Times New Roman"/>
              </a:rPr>
              <a:t>Hudson Cole, Michael Garza, Natalia Hernandez, Samuel Hilliard </a:t>
            </a:r>
          </a:p>
          <a:p>
            <a:r>
              <a:rPr lang="en-US" sz="1400">
                <a:solidFill>
                  <a:srgbClr val="FFFFFF"/>
                </a:solidFill>
                <a:latin typeface="Times New Roman"/>
                <a:cs typeface="Times New Roman"/>
              </a:rPr>
              <a:t>Collin College </a:t>
            </a:r>
          </a:p>
          <a:p>
            <a:r>
              <a:rPr lang="en-US" sz="1400">
                <a:solidFill>
                  <a:srgbClr val="FFFFFF"/>
                </a:solidFill>
                <a:latin typeface="Times New Roman"/>
                <a:cs typeface="Times New Roman"/>
              </a:rPr>
              <a:t>CYBR 4350-003: Senior Project </a:t>
            </a:r>
          </a:p>
          <a:p>
            <a:r>
              <a:rPr lang="en-US" sz="1400">
                <a:solidFill>
                  <a:srgbClr val="FFFFFF"/>
                </a:solidFill>
                <a:latin typeface="Times New Roman"/>
                <a:cs typeface="Times New Roman"/>
              </a:rPr>
              <a:t>Manny Hameed </a:t>
            </a:r>
          </a:p>
          <a:p>
            <a:pPr indent="-228600">
              <a:buFont typeface="Arial" panose="020B0604020202020204" pitchFamily="34" charset="0"/>
              <a:buChar char="•"/>
            </a:pPr>
            <a:endParaRPr lang="en-US" sz="600">
              <a:solidFill>
                <a:srgbClr val="FFFFFF"/>
              </a:solidFill>
            </a:endParaRPr>
          </a:p>
          <a:p>
            <a:pPr indent="-228600">
              <a:buFont typeface="Arial" panose="020B0604020202020204" pitchFamily="34" charset="0"/>
              <a:buChar char="•"/>
            </a:pPr>
            <a:endParaRPr lang="en-US" sz="600">
              <a:solidFill>
                <a:srgbClr val="FFFFFF"/>
              </a:solidFill>
            </a:endParaRP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oogle's medical AI destroys GPT's benchmark and outperforms doctors">
            <a:extLst>
              <a:ext uri="{FF2B5EF4-FFF2-40B4-BE49-F238E27FC236}">
                <a16:creationId xmlns:a16="http://schemas.microsoft.com/office/drawing/2014/main" id="{39ACC407-4935-13A4-A90C-5737595EB018}"/>
              </a:ext>
            </a:extLst>
          </p:cNvPr>
          <p:cNvPicPr>
            <a:picLocks noChangeAspect="1"/>
          </p:cNvPicPr>
          <p:nvPr/>
        </p:nvPicPr>
        <p:blipFill>
          <a:blip r:embed="rId3"/>
          <a:srcRect l="8283" r="12406"/>
          <a:stretch>
            <a:fillRect/>
          </a:stretch>
        </p:blipFill>
        <p:spPr>
          <a:xfrm>
            <a:off x="2557391" y="10"/>
            <a:ext cx="9669642" cy="6857990"/>
          </a:xfrm>
          <a:prstGeom prst="rect">
            <a:avLst/>
          </a:prstGeom>
        </p:spPr>
      </p:pic>
      <p:sp>
        <p:nvSpPr>
          <p:cNvPr id="25" name="Rectangle 2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7F03F1-A0FD-2B0E-4989-5ACBADF59098}"/>
              </a:ext>
            </a:extLst>
          </p:cNvPr>
          <p:cNvSpPr>
            <a:spLocks noGrp="1"/>
          </p:cNvSpPr>
          <p:nvPr>
            <p:ph type="title"/>
          </p:nvPr>
        </p:nvSpPr>
        <p:spPr>
          <a:xfrm>
            <a:off x="838200" y="-2737"/>
            <a:ext cx="3822189" cy="1899912"/>
          </a:xfrm>
        </p:spPr>
        <p:txBody>
          <a:bodyPr>
            <a:normAutofit/>
          </a:bodyPr>
          <a:lstStyle/>
          <a:p>
            <a:pPr marL="228600" indent="-228600">
              <a:spcBef>
                <a:spcPts val="1000"/>
              </a:spcBef>
            </a:pPr>
            <a:r>
              <a:rPr lang="en-US" sz="4000" b="1">
                <a:latin typeface="Times New Roman"/>
                <a:cs typeface="Times New Roman"/>
              </a:rPr>
              <a:t>Project Scope</a:t>
            </a:r>
          </a:p>
        </p:txBody>
      </p:sp>
      <p:sp>
        <p:nvSpPr>
          <p:cNvPr id="3" name="Content Placeholder 2">
            <a:extLst>
              <a:ext uri="{FF2B5EF4-FFF2-40B4-BE49-F238E27FC236}">
                <a16:creationId xmlns:a16="http://schemas.microsoft.com/office/drawing/2014/main" id="{DA5CEF74-D121-9DD6-62D0-BE3CD4D4938A}"/>
              </a:ext>
            </a:extLst>
          </p:cNvPr>
          <p:cNvSpPr>
            <a:spLocks noGrp="1"/>
          </p:cNvSpPr>
          <p:nvPr>
            <p:ph idx="1"/>
          </p:nvPr>
        </p:nvSpPr>
        <p:spPr>
          <a:xfrm>
            <a:off x="644857" y="1558731"/>
            <a:ext cx="3825587" cy="3742762"/>
          </a:xfrm>
        </p:spPr>
        <p:txBody>
          <a:bodyPr vert="horz" lIns="91440" tIns="45720" rIns="91440" bIns="45720" rtlCol="0" anchor="t">
            <a:noAutofit/>
          </a:bodyPr>
          <a:lstStyle/>
          <a:p>
            <a:pPr marL="0" indent="0">
              <a:buNone/>
            </a:pPr>
            <a:r>
              <a:rPr lang="en-US" sz="1600" b="1">
                <a:latin typeface="Times New Roman"/>
                <a:ea typeface="+mn-lt"/>
                <a:cs typeface="Times New Roman"/>
              </a:rPr>
              <a:t>Project Overview</a:t>
            </a:r>
            <a:endParaRPr lang="en-US" sz="1600">
              <a:latin typeface="Times New Roman"/>
              <a:cs typeface="Times New Roman"/>
            </a:endParaRPr>
          </a:p>
          <a:p>
            <a:r>
              <a:rPr lang="en-US" sz="1600">
                <a:latin typeface="Times New Roman"/>
                <a:ea typeface="+mn-lt"/>
                <a:cs typeface="Times New Roman"/>
              </a:rPr>
              <a:t>AI is becoming prevalent throughout healthcare organizations</a:t>
            </a:r>
          </a:p>
          <a:p>
            <a:r>
              <a:rPr lang="en-US" sz="1600">
                <a:latin typeface="Times New Roman"/>
                <a:ea typeface="+mn-lt"/>
                <a:cs typeface="Times New Roman"/>
              </a:rPr>
              <a:t>Project aimed at understanding how sensitive data is handled when uploaded into AI-driven environments</a:t>
            </a:r>
          </a:p>
          <a:p>
            <a:endParaRPr lang="en-US" sz="1600">
              <a:latin typeface="Times New Roman"/>
              <a:ea typeface="+mn-lt"/>
              <a:cs typeface="Times New Roman"/>
            </a:endParaRPr>
          </a:p>
          <a:p>
            <a:pPr marL="0" indent="0">
              <a:buNone/>
            </a:pPr>
            <a:r>
              <a:rPr lang="en-US" sz="1600" b="1">
                <a:latin typeface="Times New Roman"/>
                <a:ea typeface="+mn-lt"/>
                <a:cs typeface="Times New Roman"/>
              </a:rPr>
              <a:t>We Examined:</a:t>
            </a:r>
          </a:p>
          <a:p>
            <a:r>
              <a:rPr lang="en-US" sz="1600">
                <a:latin typeface="Times New Roman"/>
                <a:ea typeface="+mn-lt"/>
                <a:cs typeface="Times New Roman"/>
              </a:rPr>
              <a:t>How data privacy is managed when using Google’s Gemini AI within Texas healthcare providers </a:t>
            </a:r>
            <a:endParaRPr lang="en-US" sz="1600"/>
          </a:p>
          <a:p>
            <a:r>
              <a:rPr lang="en-US" sz="1600">
                <a:latin typeface="Times New Roman"/>
                <a:ea typeface="+mn-lt"/>
                <a:cs typeface="Times New Roman"/>
              </a:rPr>
              <a:t>Simulated real-world scenario by inserting sample data. Assess whether Gemini AI follows privacy standards and regulatory frameworks set by the state of Texas</a:t>
            </a:r>
            <a:endParaRPr lang="en-US" sz="1600">
              <a:latin typeface="Times New Roman"/>
              <a:cs typeface="Times New Roman"/>
            </a:endParaRPr>
          </a:p>
          <a:p>
            <a:pPr marL="0" indent="0">
              <a:buNone/>
            </a:pPr>
            <a:endParaRPr lang="en-US" sz="1300" b="1">
              <a:latin typeface="Times New Roman"/>
              <a:cs typeface="Times New Roman"/>
            </a:endParaRPr>
          </a:p>
        </p:txBody>
      </p:sp>
    </p:spTree>
    <p:extLst>
      <p:ext uri="{BB962C8B-B14F-4D97-AF65-F5344CB8AC3E}">
        <p14:creationId xmlns:p14="http://schemas.microsoft.com/office/powerpoint/2010/main" val="2291435480"/>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029F3F-6D85-CA33-E5F9-708B9B9260D3}"/>
              </a:ext>
            </a:extLst>
          </p:cNvPr>
          <p:cNvSpPr>
            <a:spLocks noGrp="1"/>
          </p:cNvSpPr>
          <p:nvPr>
            <p:ph type="title"/>
          </p:nvPr>
        </p:nvSpPr>
        <p:spPr>
          <a:xfrm>
            <a:off x="626295" y="4449058"/>
            <a:ext cx="4150581" cy="1800165"/>
          </a:xfrm>
        </p:spPr>
        <p:txBody>
          <a:bodyPr anchor="t">
            <a:normAutofit/>
          </a:bodyPr>
          <a:lstStyle/>
          <a:p>
            <a:pPr algn="r"/>
            <a:r>
              <a:rPr lang="en-US" sz="4000"/>
              <a:t>Project Summary </a:t>
            </a:r>
          </a:p>
        </p:txBody>
      </p:sp>
      <p:pic>
        <p:nvPicPr>
          <p:cNvPr id="5" name="Picture 4" descr="A yellow sign with black text&#10;&#10;AI-generated content may be incorrect.">
            <a:extLst>
              <a:ext uri="{FF2B5EF4-FFF2-40B4-BE49-F238E27FC236}">
                <a16:creationId xmlns:a16="http://schemas.microsoft.com/office/drawing/2014/main" id="{36C0AC23-3033-2D5A-E363-948E73BA8863}"/>
              </a:ext>
            </a:extLst>
          </p:cNvPr>
          <p:cNvPicPr>
            <a:picLocks noChangeAspect="1"/>
          </p:cNvPicPr>
          <p:nvPr/>
        </p:nvPicPr>
        <p:blipFill>
          <a:blip r:embed="rId2"/>
          <a:stretch>
            <a:fillRect/>
          </a:stretch>
        </p:blipFill>
        <p:spPr>
          <a:xfrm>
            <a:off x="556592" y="1279756"/>
            <a:ext cx="11139778" cy="1810212"/>
          </a:xfrm>
          <a:prstGeom prst="rect">
            <a:avLst/>
          </a:prstGeom>
        </p:spPr>
      </p:pic>
      <p:sp>
        <p:nvSpPr>
          <p:cNvPr id="3" name="Content Placeholder 2">
            <a:extLst>
              <a:ext uri="{FF2B5EF4-FFF2-40B4-BE49-F238E27FC236}">
                <a16:creationId xmlns:a16="http://schemas.microsoft.com/office/drawing/2014/main" id="{7998796C-91A0-085B-0B87-9DDEE4B33277}"/>
              </a:ext>
            </a:extLst>
          </p:cNvPr>
          <p:cNvSpPr>
            <a:spLocks noGrp="1"/>
          </p:cNvSpPr>
          <p:nvPr>
            <p:ph idx="1"/>
          </p:nvPr>
        </p:nvSpPr>
        <p:spPr>
          <a:xfrm>
            <a:off x="5778605" y="3673714"/>
            <a:ext cx="5606316" cy="2199306"/>
          </a:xfrm>
        </p:spPr>
        <p:txBody>
          <a:bodyPr vert="horz" lIns="91440" tIns="45720" rIns="91440" bIns="45720" rtlCol="0" anchor="t">
            <a:normAutofit/>
          </a:bodyPr>
          <a:lstStyle/>
          <a:p>
            <a:pPr marL="0" indent="0">
              <a:buNone/>
            </a:pPr>
            <a:r>
              <a:rPr lang="en-US" sz="1600" b="1">
                <a:latin typeface="Times New Roman"/>
                <a:cs typeface="Times New Roman"/>
              </a:rPr>
              <a:t>Methodology</a:t>
            </a:r>
            <a:endParaRPr lang="en-US" sz="1600">
              <a:latin typeface="Times New Roman"/>
              <a:cs typeface="Times New Roman"/>
            </a:endParaRPr>
          </a:p>
          <a:p>
            <a:pPr marL="0" indent="0">
              <a:buNone/>
            </a:pPr>
            <a:r>
              <a:rPr lang="en-US" sz="1600">
                <a:latin typeface="Times New Roman"/>
                <a:cs typeface="Times New Roman"/>
              </a:rPr>
              <a:t>Gemini AI evaluation will be conducted using a structured three-phase checklist:</a:t>
            </a:r>
          </a:p>
          <a:p>
            <a:pPr lvl="1">
              <a:buFont typeface="Courier New,monospace" panose="020B0604020202020204" pitchFamily="34" charset="0"/>
              <a:buChar char="o"/>
            </a:pPr>
            <a:r>
              <a:rPr lang="en-US" sz="1600" b="1">
                <a:latin typeface="Times New Roman"/>
                <a:cs typeface="Times New Roman"/>
              </a:rPr>
              <a:t>Phase 1:</a:t>
            </a:r>
            <a:r>
              <a:rPr lang="en-US" sz="1600">
                <a:latin typeface="Times New Roman"/>
                <a:cs typeface="Times New Roman"/>
              </a:rPr>
              <a:t> Review Google's open-source privacy policy </a:t>
            </a:r>
          </a:p>
          <a:p>
            <a:pPr lvl="1">
              <a:buFont typeface="Courier New,monospace" panose="020B0604020202020204" pitchFamily="34" charset="0"/>
              <a:buChar char="o"/>
            </a:pPr>
            <a:r>
              <a:rPr lang="en-US" sz="1600" b="1">
                <a:latin typeface="Times New Roman"/>
                <a:cs typeface="Times New Roman"/>
              </a:rPr>
              <a:t>Phase 2:</a:t>
            </a:r>
            <a:r>
              <a:rPr lang="en-US" sz="1600">
                <a:latin typeface="Times New Roman"/>
                <a:cs typeface="Times New Roman"/>
              </a:rPr>
              <a:t> Network monitoring and data transmission analysis </a:t>
            </a:r>
          </a:p>
          <a:p>
            <a:pPr lvl="1">
              <a:buFont typeface="Courier New,monospace" panose="020B0604020202020204" pitchFamily="34" charset="0"/>
              <a:buChar char="o"/>
            </a:pPr>
            <a:r>
              <a:rPr lang="en-US" sz="1600" b="1">
                <a:latin typeface="Times New Roman"/>
                <a:cs typeface="Times New Roman"/>
              </a:rPr>
              <a:t>Phase 3:</a:t>
            </a:r>
            <a:r>
              <a:rPr lang="en-US" sz="1600">
                <a:latin typeface="Times New Roman"/>
                <a:cs typeface="Times New Roman"/>
              </a:rPr>
              <a:t> Final validation against privacy and security standards </a:t>
            </a:r>
          </a:p>
        </p:txBody>
      </p:sp>
      <p:sp>
        <p:nvSpPr>
          <p:cNvPr id="32" name="Rectangle 3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3263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636BA0-ABE2-1278-8B7D-B816480D0631}"/>
              </a:ext>
            </a:extLst>
          </p:cNvPr>
          <p:cNvSpPr>
            <a:spLocks noGrp="1"/>
          </p:cNvSpPr>
          <p:nvPr>
            <p:ph type="title"/>
          </p:nvPr>
        </p:nvSpPr>
        <p:spPr>
          <a:xfrm>
            <a:off x="1136397" y="502020"/>
            <a:ext cx="5323715" cy="1642970"/>
          </a:xfrm>
        </p:spPr>
        <p:txBody>
          <a:bodyPr anchor="b">
            <a:normAutofit/>
          </a:bodyPr>
          <a:lstStyle/>
          <a:p>
            <a:r>
              <a:rPr lang="en-US" sz="4000"/>
              <a:t>Phase 1 Review </a:t>
            </a:r>
          </a:p>
        </p:txBody>
      </p:sp>
      <p:sp>
        <p:nvSpPr>
          <p:cNvPr id="61" name="Content Placeholder 60">
            <a:extLst>
              <a:ext uri="{FF2B5EF4-FFF2-40B4-BE49-F238E27FC236}">
                <a16:creationId xmlns:a16="http://schemas.microsoft.com/office/drawing/2014/main" id="{076ED462-5160-7D25-5819-CB8529C722EC}"/>
              </a:ext>
            </a:extLst>
          </p:cNvPr>
          <p:cNvSpPr>
            <a:spLocks noGrp="1"/>
          </p:cNvSpPr>
          <p:nvPr>
            <p:ph idx="1"/>
          </p:nvPr>
        </p:nvSpPr>
        <p:spPr>
          <a:xfrm>
            <a:off x="1144923" y="2405894"/>
            <a:ext cx="5315189" cy="3535083"/>
          </a:xfrm>
        </p:spPr>
        <p:txBody>
          <a:bodyPr anchor="t">
            <a:normAutofit/>
          </a:bodyPr>
          <a:lstStyle/>
          <a:p>
            <a:r>
              <a:rPr lang="en-US" sz="1600">
                <a:highlight>
                  <a:srgbClr val="FFFFFF"/>
                </a:highlight>
                <a:latin typeface="Times New Roman"/>
                <a:cs typeface="Times New Roman"/>
              </a:rPr>
              <a:t>Gathered, analyzed and strategically aligned peer-reviewed and timely scholarly articles as well as reputable open-source material related to:</a:t>
            </a:r>
          </a:p>
          <a:p>
            <a:pPr lvl="1">
              <a:buFont typeface="Courier New" panose="020B0604020202020204" pitchFamily="34" charset="0"/>
              <a:buChar char="o"/>
            </a:pPr>
            <a:r>
              <a:rPr lang="en-US" sz="1600">
                <a:highlight>
                  <a:srgbClr val="FFFFFF"/>
                </a:highlight>
                <a:latin typeface="Times New Roman"/>
                <a:cs typeface="Times New Roman"/>
              </a:rPr>
              <a:t>Gemini AI's Capabilities &amp; Limitations</a:t>
            </a:r>
          </a:p>
          <a:p>
            <a:pPr lvl="1">
              <a:buFont typeface="Courier New" panose="020B0604020202020204" pitchFamily="34" charset="0"/>
              <a:buChar char="o"/>
            </a:pPr>
            <a:r>
              <a:rPr lang="en-US" sz="1600">
                <a:highlight>
                  <a:srgbClr val="FFFFFF"/>
                </a:highlight>
                <a:latin typeface="Times New Roman"/>
                <a:cs typeface="Times New Roman"/>
              </a:rPr>
              <a:t>Data Privacy Laws &amp; Regulations</a:t>
            </a:r>
          </a:p>
          <a:p>
            <a:pPr lvl="2">
              <a:buFont typeface="Wingdings" panose="020B0604020202020204" pitchFamily="34" charset="0"/>
              <a:buChar char="§"/>
            </a:pPr>
            <a:r>
              <a:rPr lang="en-US" sz="1600">
                <a:highlight>
                  <a:srgbClr val="FFFFFF"/>
                </a:highlight>
                <a:latin typeface="Times New Roman"/>
                <a:cs typeface="Times New Roman"/>
              </a:rPr>
              <a:t>TDPSA</a:t>
            </a:r>
          </a:p>
          <a:p>
            <a:r>
              <a:rPr lang="en-US" sz="1600">
                <a:highlight>
                  <a:srgbClr val="FFFFFF"/>
                </a:highlight>
                <a:latin typeface="Times New Roman"/>
                <a:cs typeface="Times New Roman"/>
              </a:rPr>
              <a:t>Discovered potential misalignment between Gemini's data handling and Texas Data Privacy and Security Act (TDPSA) mandates.</a:t>
            </a:r>
            <a:endParaRPr lang="en-US" sz="1600"/>
          </a:p>
          <a:p>
            <a:r>
              <a:rPr lang="en-US" sz="1600">
                <a:highlight>
                  <a:srgbClr val="FFFFFF"/>
                </a:highlight>
                <a:latin typeface="Times New Roman"/>
                <a:cs typeface="Times New Roman"/>
              </a:rPr>
              <a:t>TDPSA requires strict </a:t>
            </a:r>
            <a:r>
              <a:rPr lang="en-US" sz="1600" b="1">
                <a:highlight>
                  <a:srgbClr val="FFFFFF"/>
                </a:highlight>
                <a:latin typeface="Times New Roman"/>
                <a:cs typeface="Times New Roman"/>
              </a:rPr>
              <a:t>transparency</a:t>
            </a:r>
            <a:r>
              <a:rPr lang="en-US" sz="1600">
                <a:highlight>
                  <a:srgbClr val="FFFFFF"/>
                </a:highlight>
                <a:latin typeface="Times New Roman"/>
                <a:cs typeface="Times New Roman"/>
              </a:rPr>
              <a:t>, </a:t>
            </a:r>
            <a:r>
              <a:rPr lang="en-US" sz="1600" b="1">
                <a:highlight>
                  <a:srgbClr val="FFFFFF"/>
                </a:highlight>
                <a:latin typeface="Times New Roman"/>
                <a:cs typeface="Times New Roman"/>
              </a:rPr>
              <a:t>opt-in consent</a:t>
            </a:r>
            <a:r>
              <a:rPr lang="en-US" sz="1600">
                <a:highlight>
                  <a:srgbClr val="FFFFFF"/>
                </a:highlight>
                <a:latin typeface="Times New Roman"/>
                <a:cs typeface="Times New Roman"/>
              </a:rPr>
              <a:t>, and </a:t>
            </a:r>
            <a:r>
              <a:rPr lang="en-US" sz="1600" b="1">
                <a:highlight>
                  <a:srgbClr val="FFFFFF"/>
                </a:highlight>
                <a:latin typeface="Times New Roman"/>
                <a:cs typeface="Times New Roman"/>
              </a:rPr>
              <a:t>purpose limitation</a:t>
            </a:r>
            <a:r>
              <a:rPr lang="en-US" sz="1600">
                <a:highlight>
                  <a:srgbClr val="FFFFFF"/>
                </a:highlight>
                <a:latin typeface="Times New Roman"/>
                <a:cs typeface="Times New Roman"/>
              </a:rPr>
              <a:t>.</a:t>
            </a:r>
          </a:p>
        </p:txBody>
      </p:sp>
      <p:sp>
        <p:nvSpPr>
          <p:cNvPr id="66" name="Rectangle 65">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oogle Gemini chatbot">
            <a:extLst>
              <a:ext uri="{FF2B5EF4-FFF2-40B4-BE49-F238E27FC236}">
                <a16:creationId xmlns:a16="http://schemas.microsoft.com/office/drawing/2014/main" id="{50E33632-A48B-2F14-708C-2B6188576ED3}"/>
              </a:ext>
            </a:extLst>
          </p:cNvPr>
          <p:cNvPicPr>
            <a:picLocks noChangeAspect="1"/>
          </p:cNvPicPr>
          <p:nvPr/>
        </p:nvPicPr>
        <p:blipFill>
          <a:blip r:embed="rId3"/>
          <a:stretch>
            <a:fillRect/>
          </a:stretch>
        </p:blipFill>
        <p:spPr>
          <a:xfrm>
            <a:off x="6455079" y="1331838"/>
            <a:ext cx="5525196" cy="3732329"/>
          </a:xfrm>
          <a:prstGeom prst="rect">
            <a:avLst/>
          </a:prstGeom>
        </p:spPr>
      </p:pic>
    </p:spTree>
    <p:extLst>
      <p:ext uri="{BB962C8B-B14F-4D97-AF65-F5344CB8AC3E}">
        <p14:creationId xmlns:p14="http://schemas.microsoft.com/office/powerpoint/2010/main" val="4244619264"/>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CAF79F-4800-628E-826B-43F4E545AE80}"/>
              </a:ext>
            </a:extLst>
          </p:cNvPr>
          <p:cNvSpPr>
            <a:spLocks noGrp="1"/>
          </p:cNvSpPr>
          <p:nvPr>
            <p:ph type="title"/>
          </p:nvPr>
        </p:nvSpPr>
        <p:spPr>
          <a:xfrm>
            <a:off x="996696" y="-444499"/>
            <a:ext cx="5814240" cy="1556870"/>
          </a:xfrm>
        </p:spPr>
        <p:txBody>
          <a:bodyPr vert="horz" lIns="91440" tIns="45720" rIns="91440" bIns="45720" rtlCol="0" anchor="b">
            <a:normAutofit/>
          </a:bodyPr>
          <a:lstStyle/>
          <a:p>
            <a:r>
              <a:rPr lang="en-US" sz="4000" b="1">
                <a:latin typeface="Times New Roman"/>
                <a:cs typeface="Times New Roman"/>
              </a:rPr>
              <a:t>Configuration</a:t>
            </a:r>
            <a:r>
              <a:rPr lang="en-US" sz="4000" b="1" kern="1200">
                <a:latin typeface="Times New Roman"/>
                <a:cs typeface="Times New Roman"/>
              </a:rPr>
              <a:t> </a:t>
            </a:r>
            <a:r>
              <a:rPr lang="en-US" sz="4000" b="1">
                <a:latin typeface="Times New Roman"/>
                <a:cs typeface="Times New Roman"/>
              </a:rPr>
              <a:t>of Phase 2</a:t>
            </a:r>
            <a:endParaRPr lang="en-US" sz="4000" b="1" kern="1200">
              <a:latin typeface="Times New Roman"/>
              <a:cs typeface="Times New Roman"/>
            </a:endParaRPr>
          </a:p>
        </p:txBody>
      </p:sp>
      <p:sp>
        <p:nvSpPr>
          <p:cNvPr id="3" name="Content Placeholder 2">
            <a:extLst>
              <a:ext uri="{FF2B5EF4-FFF2-40B4-BE49-F238E27FC236}">
                <a16:creationId xmlns:a16="http://schemas.microsoft.com/office/drawing/2014/main" id="{5B10207B-FD17-7BD1-8F22-C79D817DB70A}"/>
              </a:ext>
            </a:extLst>
          </p:cNvPr>
          <p:cNvSpPr>
            <a:spLocks noGrp="1"/>
          </p:cNvSpPr>
          <p:nvPr>
            <p:ph idx="1"/>
          </p:nvPr>
        </p:nvSpPr>
        <p:spPr>
          <a:xfrm>
            <a:off x="674984" y="1568255"/>
            <a:ext cx="3464739" cy="4840012"/>
          </a:xfrm>
        </p:spPr>
        <p:txBody>
          <a:bodyPr vert="horz" lIns="91440" tIns="45720" rIns="91440" bIns="45720" rtlCol="0" anchor="t">
            <a:normAutofit fontScale="92500" lnSpcReduction="10000"/>
          </a:bodyPr>
          <a:lstStyle/>
          <a:p>
            <a:r>
              <a:rPr lang="en-US" sz="1800">
                <a:highlight>
                  <a:srgbClr val="FFFFFF"/>
                </a:highlight>
                <a:latin typeface="Times New Roman"/>
                <a:cs typeface="Times New Roman"/>
              </a:rPr>
              <a:t>Hosted on a local desktop, </a:t>
            </a:r>
            <a:r>
              <a:rPr lang="en-US" sz="1800" b="1">
                <a:highlight>
                  <a:srgbClr val="FFFFFF"/>
                </a:highlight>
                <a:latin typeface="Times New Roman"/>
                <a:cs typeface="Times New Roman"/>
              </a:rPr>
              <a:t> Lenovo ThinkPad</a:t>
            </a:r>
            <a:r>
              <a:rPr lang="en-US" sz="1800">
                <a:highlight>
                  <a:srgbClr val="FFFFFF"/>
                </a:highlight>
                <a:latin typeface="Times New Roman"/>
                <a:cs typeface="Times New Roman"/>
              </a:rPr>
              <a:t>. Testing performed within virtual network environment using GNS3, running a Linux Ubuntu application. </a:t>
            </a:r>
            <a:endParaRPr lang="en-US" sz="1800">
              <a:latin typeface="Times New Roman"/>
              <a:cs typeface="Times New Roman"/>
            </a:endParaRPr>
          </a:p>
          <a:p>
            <a:r>
              <a:rPr lang="en-US" sz="1800" b="1">
                <a:highlight>
                  <a:srgbClr val="FFFFFF"/>
                </a:highlight>
                <a:latin typeface="Times New Roman"/>
                <a:cs typeface="Times New Roman"/>
              </a:rPr>
              <a:t>GNS3 </a:t>
            </a:r>
            <a:r>
              <a:rPr lang="en-US" sz="1800">
                <a:highlight>
                  <a:srgbClr val="FFFFFF"/>
                </a:highlight>
                <a:latin typeface="Times New Roman"/>
                <a:cs typeface="Times New Roman"/>
              </a:rPr>
              <a:t>is a networking simulator that creates virtual environments built on virtual machines for testing purposes. </a:t>
            </a:r>
          </a:p>
          <a:p>
            <a:r>
              <a:rPr lang="en-US" sz="1800">
                <a:highlight>
                  <a:srgbClr val="FFFFFF"/>
                </a:highlight>
                <a:latin typeface="Times New Roman"/>
                <a:cs typeface="Times New Roman"/>
              </a:rPr>
              <a:t>Within </a:t>
            </a:r>
            <a:r>
              <a:rPr lang="en-US" sz="1800" b="1">
                <a:highlight>
                  <a:srgbClr val="FFFFFF"/>
                </a:highlight>
                <a:latin typeface="Times New Roman"/>
                <a:cs typeface="Times New Roman"/>
              </a:rPr>
              <a:t>Ubuntu's Terminal</a:t>
            </a:r>
            <a:r>
              <a:rPr lang="en-US" sz="1800">
                <a:highlight>
                  <a:srgbClr val="FFFFFF"/>
                </a:highlight>
                <a:latin typeface="Times New Roman"/>
                <a:cs typeface="Times New Roman"/>
              </a:rPr>
              <a:t>  window, </a:t>
            </a:r>
            <a:r>
              <a:rPr lang="en-US" sz="1800" b="1" err="1">
                <a:highlight>
                  <a:srgbClr val="FFFFFF"/>
                </a:highlight>
                <a:latin typeface="Times New Roman"/>
                <a:cs typeface="Times New Roman"/>
              </a:rPr>
              <a:t>MITMProxy</a:t>
            </a:r>
            <a:r>
              <a:rPr lang="en-US" sz="1800">
                <a:highlight>
                  <a:srgbClr val="FFFFFF"/>
                </a:highlight>
                <a:latin typeface="Times New Roman"/>
                <a:cs typeface="Times New Roman"/>
              </a:rPr>
              <a:t> (Man In The Middle Proxy) intercepted and collected sensitive data from Gemini AI Chatbot using a custom </a:t>
            </a:r>
            <a:r>
              <a:rPr lang="en-US" sz="1800" b="1">
                <a:highlight>
                  <a:srgbClr val="FFFFFF"/>
                </a:highlight>
                <a:latin typeface="Times New Roman"/>
                <a:cs typeface="Times New Roman"/>
              </a:rPr>
              <a:t>Python script</a:t>
            </a:r>
            <a:r>
              <a:rPr lang="en-US" sz="1800">
                <a:highlight>
                  <a:srgbClr val="FFFFFF"/>
                </a:highlight>
                <a:latin typeface="Times New Roman"/>
                <a:cs typeface="Times New Roman"/>
              </a:rPr>
              <a:t>. </a:t>
            </a:r>
            <a:endParaRPr lang="en-US" sz="1800">
              <a:latin typeface="Times New Roman"/>
              <a:cs typeface="Times New Roman"/>
            </a:endParaRPr>
          </a:p>
          <a:p>
            <a:r>
              <a:rPr lang="en-US" sz="1800">
                <a:highlight>
                  <a:srgbClr val="FFFFFF"/>
                </a:highlight>
                <a:latin typeface="Times New Roman"/>
                <a:cs typeface="Times New Roman"/>
              </a:rPr>
              <a:t>Captured network traffic into a </a:t>
            </a:r>
            <a:r>
              <a:rPr lang="en-US" sz="1800" b="1">
                <a:highlight>
                  <a:srgbClr val="FFFFFF"/>
                </a:highlight>
                <a:latin typeface="Times New Roman"/>
                <a:cs typeface="Times New Roman"/>
              </a:rPr>
              <a:t>CSV log.</a:t>
            </a:r>
          </a:p>
          <a:p>
            <a:pPr marL="0" indent="0">
              <a:buNone/>
            </a:pPr>
            <a:br>
              <a:rPr lang="en-US" sz="1700" kern="1200">
                <a:latin typeface="Times New Roman"/>
                <a:cs typeface="Times New Roman"/>
              </a:rPr>
            </a:br>
            <a:endParaRPr lang="en-US" sz="1700" kern="1200">
              <a:latin typeface="Times New Roman"/>
              <a:cs typeface="Times New Roman"/>
            </a:endParaRPr>
          </a:p>
          <a:p>
            <a:pPr marL="0" indent="0">
              <a:buNone/>
            </a:pPr>
            <a:endParaRPr lang="en-US" sz="1700">
              <a:latin typeface="Times New Roman"/>
              <a:cs typeface="Times New Roman"/>
            </a:endParaRPr>
          </a:p>
        </p:txBody>
      </p:sp>
      <p:sp>
        <p:nvSpPr>
          <p:cNvPr id="77" name="Rectangle 76">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0800"/>
            <a:ext cx="8153398"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19CCFE6A-2914-7F1A-8696-64760EAD1037}"/>
              </a:ext>
            </a:extLst>
          </p:cNvPr>
          <p:cNvPicPr>
            <a:picLocks noChangeAspect="1"/>
          </p:cNvPicPr>
          <p:nvPr/>
        </p:nvPicPr>
        <p:blipFill>
          <a:blip r:embed="rId3"/>
          <a:stretch>
            <a:fillRect/>
          </a:stretch>
        </p:blipFill>
        <p:spPr>
          <a:xfrm>
            <a:off x="4503201" y="1447056"/>
            <a:ext cx="7263194" cy="4117754"/>
          </a:xfrm>
          <a:prstGeom prst="rect">
            <a:avLst/>
          </a:prstGeom>
        </p:spPr>
      </p:pic>
      <p:sp>
        <p:nvSpPr>
          <p:cNvPr id="5" name="TextBox 4">
            <a:extLst>
              <a:ext uri="{FF2B5EF4-FFF2-40B4-BE49-F238E27FC236}">
                <a16:creationId xmlns:a16="http://schemas.microsoft.com/office/drawing/2014/main" id="{CDF1827D-F3AA-09CD-DAC1-54FDB58B7160}"/>
              </a:ext>
            </a:extLst>
          </p:cNvPr>
          <p:cNvSpPr txBox="1"/>
          <p:nvPr/>
        </p:nvSpPr>
        <p:spPr>
          <a:xfrm>
            <a:off x="9070963" y="5690987"/>
            <a:ext cx="16411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Figure 1.</a:t>
            </a:r>
          </a:p>
        </p:txBody>
      </p:sp>
    </p:spTree>
    <p:extLst>
      <p:ext uri="{BB962C8B-B14F-4D97-AF65-F5344CB8AC3E}">
        <p14:creationId xmlns:p14="http://schemas.microsoft.com/office/powerpoint/2010/main" val="1172277368"/>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7" name="Rectangle 14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C644F9-2C9B-602F-263A-7FC3CD069D36}"/>
              </a:ext>
            </a:extLst>
          </p:cNvPr>
          <p:cNvSpPr>
            <a:spLocks noGrp="1"/>
          </p:cNvSpPr>
          <p:nvPr>
            <p:ph type="title"/>
          </p:nvPr>
        </p:nvSpPr>
        <p:spPr>
          <a:xfrm>
            <a:off x="1716969" y="223830"/>
            <a:ext cx="9386460" cy="844683"/>
          </a:xfrm>
        </p:spPr>
        <p:txBody>
          <a:bodyPr anchor="b">
            <a:normAutofit/>
          </a:bodyPr>
          <a:lstStyle/>
          <a:p>
            <a:r>
              <a:rPr lang="en-US" sz="4000" b="1">
                <a:latin typeface="Times New Roman"/>
                <a:ea typeface="+mj-lt"/>
                <a:cs typeface="Times New Roman"/>
              </a:rPr>
              <a:t>Phase 2 Network Architecture</a:t>
            </a:r>
            <a:endParaRPr lang="en-US" sz="4000">
              <a:latin typeface="Times New Roman"/>
              <a:cs typeface="Times New Roman"/>
            </a:endParaRPr>
          </a:p>
        </p:txBody>
      </p:sp>
      <p:sp>
        <p:nvSpPr>
          <p:cNvPr id="124" name="Content Placeholder 123">
            <a:extLst>
              <a:ext uri="{FF2B5EF4-FFF2-40B4-BE49-F238E27FC236}">
                <a16:creationId xmlns:a16="http://schemas.microsoft.com/office/drawing/2014/main" id="{AC145DDA-F7BA-51BD-DF4D-D211493C517F}"/>
              </a:ext>
            </a:extLst>
          </p:cNvPr>
          <p:cNvSpPr>
            <a:spLocks noGrp="1"/>
          </p:cNvSpPr>
          <p:nvPr>
            <p:ph idx="1"/>
          </p:nvPr>
        </p:nvSpPr>
        <p:spPr>
          <a:xfrm>
            <a:off x="8562871" y="1487076"/>
            <a:ext cx="2855033" cy="4320854"/>
          </a:xfrm>
        </p:spPr>
        <p:txBody>
          <a:bodyPr vert="horz" lIns="91440" tIns="45720" rIns="91440" bIns="45720" rtlCol="0" anchor="t">
            <a:normAutofit/>
          </a:bodyPr>
          <a:lstStyle/>
          <a:p>
            <a:r>
              <a:rPr lang="en-US" sz="2000">
                <a:highlight>
                  <a:srgbClr val="FFFFFF"/>
                </a:highlight>
                <a:latin typeface="Times New Roman"/>
                <a:ea typeface="Calibri"/>
                <a:cs typeface="Times New Roman"/>
              </a:rPr>
              <a:t>Host accesses internet via </a:t>
            </a:r>
            <a:r>
              <a:rPr lang="en-US" sz="2000" b="1">
                <a:highlight>
                  <a:srgbClr val="FFFFFF"/>
                </a:highlight>
                <a:latin typeface="Times New Roman"/>
                <a:ea typeface="Calibri"/>
                <a:cs typeface="Times New Roman"/>
              </a:rPr>
              <a:t>VyOS Router</a:t>
            </a:r>
            <a:r>
              <a:rPr lang="en-US" sz="2000">
                <a:highlight>
                  <a:srgbClr val="FFFFFF"/>
                </a:highlight>
                <a:latin typeface="Times New Roman"/>
                <a:ea typeface="Calibri"/>
                <a:cs typeface="Times New Roman"/>
              </a:rPr>
              <a:t> and enables our team to use Hypervisor with GNS3</a:t>
            </a:r>
          </a:p>
          <a:p>
            <a:r>
              <a:rPr lang="en-US" sz="2000" b="1">
                <a:highlight>
                  <a:srgbClr val="FFFFFF"/>
                </a:highlight>
                <a:latin typeface="Times New Roman"/>
                <a:ea typeface="Calibri"/>
                <a:cs typeface="Times New Roman"/>
              </a:rPr>
              <a:t>Linux Ubuntu Running Terminal </a:t>
            </a:r>
            <a:r>
              <a:rPr lang="en-US" sz="2000">
                <a:highlight>
                  <a:srgbClr val="FFFFFF"/>
                </a:highlight>
                <a:latin typeface="Times New Roman"/>
                <a:ea typeface="Calibri"/>
                <a:cs typeface="Times New Roman"/>
              </a:rPr>
              <a:t>is used to access MITMProxy</a:t>
            </a:r>
          </a:p>
          <a:p>
            <a:r>
              <a:rPr lang="en-US" sz="2000" b="1">
                <a:highlight>
                  <a:srgbClr val="FFFFFF"/>
                </a:highlight>
                <a:latin typeface="Times New Roman"/>
                <a:ea typeface="Calibri"/>
                <a:cs typeface="Times New Roman"/>
              </a:rPr>
              <a:t>MiTMProxy </a:t>
            </a:r>
            <a:r>
              <a:rPr lang="en-US" sz="2000">
                <a:highlight>
                  <a:srgbClr val="FFFFFF"/>
                </a:highlight>
                <a:latin typeface="Times New Roman"/>
                <a:ea typeface="Calibri"/>
                <a:cs typeface="Times New Roman"/>
              </a:rPr>
              <a:t>enables our team to observe Gemini's actions on test-data</a:t>
            </a:r>
            <a:endParaRPr lang="en-US" sz="2000">
              <a:latin typeface="Aptos"/>
              <a:ea typeface="Calibri"/>
              <a:cs typeface="Times New Roman"/>
            </a:endParaRPr>
          </a:p>
          <a:p>
            <a:endParaRPr lang="en-US" sz="2000">
              <a:highlight>
                <a:srgbClr val="FFFFFF"/>
              </a:highlight>
              <a:latin typeface="Times New Roman"/>
              <a:ea typeface="Calibri"/>
              <a:cs typeface="Times New Roman"/>
            </a:endParaRPr>
          </a:p>
          <a:p>
            <a:endParaRPr lang="en-US" sz="2000">
              <a:latin typeface="Times New Roman"/>
              <a:ea typeface="Calibri"/>
              <a:cs typeface="Times New Roman"/>
            </a:endParaRPr>
          </a:p>
        </p:txBody>
      </p:sp>
      <p:pic>
        <p:nvPicPr>
          <p:cNvPr id="3" name="Picture 2" descr="A screenshot of a computer&#10;&#10;AI-generated content may be incorrect.">
            <a:extLst>
              <a:ext uri="{FF2B5EF4-FFF2-40B4-BE49-F238E27FC236}">
                <a16:creationId xmlns:a16="http://schemas.microsoft.com/office/drawing/2014/main" id="{6C05BF37-57A7-7AFC-4423-DDC120D2738A}"/>
              </a:ext>
            </a:extLst>
          </p:cNvPr>
          <p:cNvPicPr>
            <a:picLocks noChangeAspect="1"/>
          </p:cNvPicPr>
          <p:nvPr/>
        </p:nvPicPr>
        <p:blipFill>
          <a:blip r:embed="rId4"/>
          <a:stretch>
            <a:fillRect/>
          </a:stretch>
        </p:blipFill>
        <p:spPr>
          <a:xfrm>
            <a:off x="271299" y="1311813"/>
            <a:ext cx="8067592" cy="4655192"/>
          </a:xfrm>
          <a:prstGeom prst="rect">
            <a:avLst/>
          </a:prstGeom>
        </p:spPr>
      </p:pic>
      <p:sp>
        <p:nvSpPr>
          <p:cNvPr id="149" name="Rectangle 148">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C4CC3A0-5683-BFD0-C1F9-195058F1CB79}"/>
              </a:ext>
            </a:extLst>
          </p:cNvPr>
          <p:cNvSpPr txBox="1"/>
          <p:nvPr/>
        </p:nvSpPr>
        <p:spPr>
          <a:xfrm>
            <a:off x="688215" y="5902769"/>
            <a:ext cx="27528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Figure 2.</a:t>
            </a:r>
          </a:p>
        </p:txBody>
      </p:sp>
    </p:spTree>
    <p:extLst>
      <p:ext uri="{BB962C8B-B14F-4D97-AF65-F5344CB8AC3E}">
        <p14:creationId xmlns:p14="http://schemas.microsoft.com/office/powerpoint/2010/main" val="945401225"/>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358EA4D-1542-7706-7C42-5D906877A0AC}"/>
              </a:ext>
            </a:extLst>
          </p:cNvPr>
          <p:cNvSpPr>
            <a:spLocks noGrp="1"/>
          </p:cNvSpPr>
          <p:nvPr>
            <p:ph type="title"/>
          </p:nvPr>
        </p:nvSpPr>
        <p:spPr>
          <a:xfrm>
            <a:off x="1040272" y="234645"/>
            <a:ext cx="9392421" cy="1330841"/>
          </a:xfrm>
        </p:spPr>
        <p:txBody>
          <a:bodyPr>
            <a:normAutofit/>
          </a:bodyPr>
          <a:lstStyle/>
          <a:p>
            <a:r>
              <a:rPr lang="en-US" b="1">
                <a:latin typeface="Times New Roman"/>
                <a:ea typeface="+mj-lt"/>
                <a:cs typeface="Times New Roman"/>
              </a:rPr>
              <a:t>Phase 2 Environment Security Controls</a:t>
            </a:r>
            <a:endParaRPr lang="en-US" b="1">
              <a:latin typeface="Times New Roman"/>
              <a:cs typeface="Times New Roman"/>
            </a:endParaRPr>
          </a:p>
        </p:txBody>
      </p:sp>
      <p:sp>
        <p:nvSpPr>
          <p:cNvPr id="3" name="Content Placeholder 2">
            <a:extLst>
              <a:ext uri="{FF2B5EF4-FFF2-40B4-BE49-F238E27FC236}">
                <a16:creationId xmlns:a16="http://schemas.microsoft.com/office/drawing/2014/main" id="{C3204B8B-0BA1-820D-C785-52666C3B2D46}"/>
              </a:ext>
            </a:extLst>
          </p:cNvPr>
          <p:cNvSpPr>
            <a:spLocks noGrp="1"/>
          </p:cNvSpPr>
          <p:nvPr>
            <p:ph idx="1"/>
          </p:nvPr>
        </p:nvSpPr>
        <p:spPr>
          <a:xfrm>
            <a:off x="719857" y="2345557"/>
            <a:ext cx="3033505" cy="3893583"/>
          </a:xfrm>
        </p:spPr>
        <p:txBody>
          <a:bodyPr vert="horz" lIns="91440" tIns="45720" rIns="91440" bIns="45720" rtlCol="0" anchor="ctr">
            <a:normAutofit fontScale="85000" lnSpcReduction="20000"/>
          </a:bodyPr>
          <a:lstStyle/>
          <a:p>
            <a:r>
              <a:rPr lang="en-US" sz="1800">
                <a:highlight>
                  <a:srgbClr val="FFFFFF"/>
                </a:highlight>
                <a:latin typeface="Times New Roman"/>
                <a:cs typeface="Times New Roman"/>
              </a:rPr>
              <a:t>Our project environment utilizes a</a:t>
            </a:r>
            <a:r>
              <a:rPr lang="en-US" sz="1800" b="1">
                <a:highlight>
                  <a:srgbClr val="FFFFFF"/>
                </a:highlight>
                <a:latin typeface="Times New Roman"/>
                <a:cs typeface="Times New Roman"/>
              </a:rPr>
              <a:t> Type-2 Hypervisor</a:t>
            </a:r>
            <a:r>
              <a:rPr lang="en-US" sz="1800">
                <a:highlight>
                  <a:srgbClr val="FFFFFF"/>
                </a:highlight>
                <a:latin typeface="Times New Roman"/>
                <a:cs typeface="Times New Roman"/>
              </a:rPr>
              <a:t> (</a:t>
            </a:r>
            <a:r>
              <a:rPr lang="en-US" sz="1800" b="1">
                <a:highlight>
                  <a:srgbClr val="FFFFFF"/>
                </a:highlight>
                <a:latin typeface="Times New Roman"/>
                <a:cs typeface="Times New Roman"/>
              </a:rPr>
              <a:t>VirtualBox</a:t>
            </a:r>
            <a:r>
              <a:rPr lang="en-US" sz="1800">
                <a:highlight>
                  <a:srgbClr val="FFFFFF"/>
                </a:highlight>
                <a:latin typeface="Times New Roman"/>
                <a:cs typeface="Times New Roman"/>
              </a:rPr>
              <a:t>), to simulate isolation from host production environments and manage test infrastructure</a:t>
            </a:r>
          </a:p>
          <a:p>
            <a:r>
              <a:rPr lang="en-US" sz="1800" b="1">
                <a:highlight>
                  <a:srgbClr val="FFFFFF"/>
                </a:highlight>
                <a:latin typeface="Times New Roman"/>
                <a:cs typeface="Times New Roman"/>
              </a:rPr>
              <a:t>Gemini </a:t>
            </a:r>
            <a:r>
              <a:rPr lang="en-US" sz="1800">
                <a:highlight>
                  <a:srgbClr val="FFFFFF"/>
                </a:highlight>
                <a:latin typeface="Times New Roman"/>
                <a:cs typeface="Times New Roman"/>
              </a:rPr>
              <a:t>is accessed via the MITM Proxy with CMEK encryption</a:t>
            </a:r>
          </a:p>
          <a:p>
            <a:r>
              <a:rPr lang="en-US" sz="1800" b="1" err="1">
                <a:highlight>
                  <a:srgbClr val="FFFFFF"/>
                </a:highlight>
                <a:latin typeface="Times New Roman"/>
                <a:cs typeface="Times New Roman"/>
              </a:rPr>
              <a:t>VyOS</a:t>
            </a:r>
            <a:r>
              <a:rPr lang="en-US" sz="1800" b="1">
                <a:highlight>
                  <a:srgbClr val="FFFFFF"/>
                </a:highlight>
                <a:latin typeface="Times New Roman"/>
                <a:cs typeface="Times New Roman"/>
              </a:rPr>
              <a:t> Router</a:t>
            </a:r>
            <a:r>
              <a:rPr lang="en-US" sz="1800">
                <a:highlight>
                  <a:srgbClr val="FFFFFF"/>
                </a:highlight>
                <a:latin typeface="Times New Roman"/>
                <a:cs typeface="Times New Roman"/>
              </a:rPr>
              <a:t> and the </a:t>
            </a:r>
            <a:r>
              <a:rPr lang="en-US" sz="1800" b="1">
                <a:highlight>
                  <a:srgbClr val="FFFFFF"/>
                </a:highlight>
                <a:latin typeface="Times New Roman"/>
                <a:cs typeface="Times New Roman"/>
              </a:rPr>
              <a:t>Linux Ubuntu Terminal Window</a:t>
            </a:r>
            <a:r>
              <a:rPr lang="en-US" sz="1800">
                <a:highlight>
                  <a:srgbClr val="FFFFFF"/>
                </a:highlight>
                <a:latin typeface="Times New Roman"/>
                <a:cs typeface="Times New Roman"/>
              </a:rPr>
              <a:t> have assigned IP addresses and communicating via TLS connections</a:t>
            </a:r>
          </a:p>
          <a:p>
            <a:r>
              <a:rPr lang="en-US" sz="1800">
                <a:highlight>
                  <a:srgbClr val="FFFFFF"/>
                </a:highlight>
                <a:latin typeface="Times New Roman"/>
                <a:cs typeface="Times New Roman"/>
              </a:rPr>
              <a:t>We </a:t>
            </a:r>
            <a:r>
              <a:rPr lang="en-US" sz="1800" b="1">
                <a:highlight>
                  <a:srgbClr val="FFFFFF"/>
                </a:highlight>
                <a:latin typeface="Times New Roman"/>
                <a:cs typeface="Times New Roman"/>
              </a:rPr>
              <a:t>don't utilize VLANs</a:t>
            </a:r>
            <a:r>
              <a:rPr lang="en-US" sz="1800">
                <a:highlight>
                  <a:srgbClr val="FFFFFF"/>
                </a:highlight>
                <a:latin typeface="Times New Roman"/>
                <a:cs typeface="Times New Roman"/>
              </a:rPr>
              <a:t> in our local and VM environments due to not needing a switch to segment infrastructure devices</a:t>
            </a:r>
          </a:p>
          <a:p>
            <a:pPr marL="0" indent="0">
              <a:buNone/>
            </a:pPr>
            <a:br>
              <a:rPr lang="en-US" sz="2000">
                <a:latin typeface="Times New Roman"/>
                <a:cs typeface="Times New Roman"/>
              </a:rPr>
            </a:br>
            <a:endParaRPr lang="en-US" sz="2000">
              <a:latin typeface="Times New Roman"/>
              <a:cs typeface="Times New Roman"/>
            </a:endParaRPr>
          </a:p>
        </p:txBody>
      </p:sp>
      <p:sp>
        <p:nvSpPr>
          <p:cNvPr id="22" name="Freeform: Shape 21">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40E3B8DC-1402-2434-5DAA-3E9326165AD3}"/>
              </a:ext>
            </a:extLst>
          </p:cNvPr>
          <p:cNvPicPr>
            <a:picLocks noChangeAspect="1"/>
          </p:cNvPicPr>
          <p:nvPr/>
        </p:nvPicPr>
        <p:blipFill>
          <a:blip r:embed="rId4"/>
          <a:stretch>
            <a:fillRect/>
          </a:stretch>
        </p:blipFill>
        <p:spPr>
          <a:xfrm>
            <a:off x="3885542" y="1828614"/>
            <a:ext cx="8136135" cy="4417329"/>
          </a:xfrm>
          <a:prstGeom prst="rect">
            <a:avLst/>
          </a:prstGeom>
        </p:spPr>
      </p:pic>
      <p:sp>
        <p:nvSpPr>
          <p:cNvPr id="4" name="Oval 3">
            <a:extLst>
              <a:ext uri="{FF2B5EF4-FFF2-40B4-BE49-F238E27FC236}">
                <a16:creationId xmlns:a16="http://schemas.microsoft.com/office/drawing/2014/main" id="{07B60ECA-496C-C2EE-DE7D-DF4EB98941E6}"/>
              </a:ext>
            </a:extLst>
          </p:cNvPr>
          <p:cNvSpPr/>
          <p:nvPr/>
        </p:nvSpPr>
        <p:spPr>
          <a:xfrm>
            <a:off x="4338344" y="3894878"/>
            <a:ext cx="597009" cy="35405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DEA725B-EC25-29ED-4A92-A56540BBE568}"/>
              </a:ext>
            </a:extLst>
          </p:cNvPr>
          <p:cNvSpPr/>
          <p:nvPr/>
        </p:nvSpPr>
        <p:spPr>
          <a:xfrm>
            <a:off x="9224818" y="3761830"/>
            <a:ext cx="488153" cy="28148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C7D1224-6240-0C65-0DCF-C89AED155364}"/>
              </a:ext>
            </a:extLst>
          </p:cNvPr>
          <p:cNvSpPr/>
          <p:nvPr/>
        </p:nvSpPr>
        <p:spPr>
          <a:xfrm>
            <a:off x="8281393" y="3024020"/>
            <a:ext cx="1189673" cy="40243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06060F-55C4-6767-CC41-82004802DD86}"/>
              </a:ext>
            </a:extLst>
          </p:cNvPr>
          <p:cNvSpPr/>
          <p:nvPr/>
        </p:nvSpPr>
        <p:spPr>
          <a:xfrm>
            <a:off x="7712916" y="4668973"/>
            <a:ext cx="911486" cy="29358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622EFF9-C854-DEE9-52FD-5BDE37A642C7}"/>
              </a:ext>
            </a:extLst>
          </p:cNvPr>
          <p:cNvSpPr/>
          <p:nvPr/>
        </p:nvSpPr>
        <p:spPr>
          <a:xfrm>
            <a:off x="10144058" y="5418877"/>
            <a:ext cx="1056627" cy="3056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41755C3-E0F2-6CF6-1867-084AE01A3541}"/>
              </a:ext>
            </a:extLst>
          </p:cNvPr>
          <p:cNvSpPr txBox="1"/>
          <p:nvPr/>
        </p:nvSpPr>
        <p:spPr>
          <a:xfrm>
            <a:off x="10468811" y="6273346"/>
            <a:ext cx="121761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Figure 2.</a:t>
            </a:r>
          </a:p>
        </p:txBody>
      </p:sp>
    </p:spTree>
    <p:extLst>
      <p:ext uri="{BB962C8B-B14F-4D97-AF65-F5344CB8AC3E}">
        <p14:creationId xmlns:p14="http://schemas.microsoft.com/office/powerpoint/2010/main" val="2723538316"/>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Rectangle 3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667F2B-991D-FEED-49E3-904C4A2A462A}"/>
              </a:ext>
            </a:extLst>
          </p:cNvPr>
          <p:cNvSpPr>
            <a:spLocks noGrp="1"/>
          </p:cNvSpPr>
          <p:nvPr>
            <p:ph type="title"/>
          </p:nvPr>
        </p:nvSpPr>
        <p:spPr>
          <a:xfrm>
            <a:off x="466722" y="586855"/>
            <a:ext cx="3201366" cy="3387497"/>
          </a:xfrm>
        </p:spPr>
        <p:txBody>
          <a:bodyPr anchor="b">
            <a:normAutofit/>
          </a:bodyPr>
          <a:lstStyle/>
          <a:p>
            <a:pPr algn="r"/>
            <a:r>
              <a:rPr lang="en-US" sz="3200" b="1">
                <a:solidFill>
                  <a:srgbClr val="FFFFFF"/>
                </a:solidFill>
                <a:latin typeface="Times New Roman"/>
                <a:ea typeface="+mj-lt"/>
                <a:cs typeface="Times New Roman"/>
              </a:rPr>
              <a:t>Phase 2 Implementation/</a:t>
            </a:r>
            <a:br>
              <a:rPr lang="en-US" sz="3200" b="1">
                <a:latin typeface="Times New Roman"/>
                <a:ea typeface="+mj-lt"/>
                <a:cs typeface="Times New Roman"/>
              </a:rPr>
            </a:br>
            <a:r>
              <a:rPr lang="en-US" sz="3200" b="1">
                <a:solidFill>
                  <a:srgbClr val="FFFFFF"/>
                </a:solidFill>
                <a:latin typeface="Times New Roman"/>
                <a:ea typeface="+mj-lt"/>
                <a:cs typeface="Times New Roman"/>
              </a:rPr>
              <a:t>Deployment </a:t>
            </a:r>
            <a:endParaRPr lang="en-US" sz="3200">
              <a:solidFill>
                <a:srgbClr val="FFFFFF"/>
              </a:solidFill>
              <a:latin typeface="Times New Roman"/>
              <a:cs typeface="Times New Roman"/>
            </a:endParaRPr>
          </a:p>
        </p:txBody>
      </p:sp>
      <p:sp>
        <p:nvSpPr>
          <p:cNvPr id="3" name="Content Placeholder 2">
            <a:extLst>
              <a:ext uri="{FF2B5EF4-FFF2-40B4-BE49-F238E27FC236}">
                <a16:creationId xmlns:a16="http://schemas.microsoft.com/office/drawing/2014/main" id="{8F50C862-9142-C1BC-15CF-7E6C184DC2B3}"/>
              </a:ext>
            </a:extLst>
          </p:cNvPr>
          <p:cNvSpPr>
            <a:spLocks noGrp="1"/>
          </p:cNvSpPr>
          <p:nvPr>
            <p:ph idx="1"/>
          </p:nvPr>
        </p:nvSpPr>
        <p:spPr>
          <a:xfrm>
            <a:off x="4068402" y="327187"/>
            <a:ext cx="8276569" cy="1686726"/>
          </a:xfrm>
        </p:spPr>
        <p:txBody>
          <a:bodyPr vert="horz" lIns="91440" tIns="45720" rIns="91440" bIns="45720" rtlCol="0" anchor="ctr">
            <a:normAutofit/>
          </a:bodyPr>
          <a:lstStyle/>
          <a:p>
            <a:r>
              <a:rPr lang="en-US" sz="1800">
                <a:highlight>
                  <a:srgbClr val="FFFFFF"/>
                </a:highlight>
                <a:latin typeface="Times New Roman"/>
                <a:cs typeface="Times New Roman"/>
              </a:rPr>
              <a:t>Overview of GNS3 environment</a:t>
            </a:r>
          </a:p>
          <a:p>
            <a:r>
              <a:rPr lang="en-US" sz="1800">
                <a:highlight>
                  <a:srgbClr val="FFFFFF"/>
                </a:highlight>
                <a:latin typeface="Times New Roman"/>
                <a:cs typeface="Times New Roman"/>
              </a:rPr>
              <a:t>NAT -&gt; </a:t>
            </a:r>
            <a:r>
              <a:rPr lang="en-US" sz="1800" err="1">
                <a:highlight>
                  <a:srgbClr val="FFFFFF"/>
                </a:highlight>
                <a:latin typeface="Times New Roman"/>
                <a:cs typeface="Times New Roman"/>
              </a:rPr>
              <a:t>VyOS</a:t>
            </a:r>
            <a:r>
              <a:rPr lang="en-US" sz="1800">
                <a:highlight>
                  <a:srgbClr val="FFFFFF"/>
                </a:highlight>
                <a:latin typeface="Times New Roman"/>
                <a:cs typeface="Times New Roman"/>
              </a:rPr>
              <a:t> Router -&gt; Ubuntu VM -&gt; Terminal Window -&gt; </a:t>
            </a:r>
            <a:r>
              <a:rPr lang="en-US" sz="1800" err="1">
                <a:highlight>
                  <a:srgbClr val="FFFFFF"/>
                </a:highlight>
                <a:latin typeface="Times New Roman"/>
                <a:cs typeface="Times New Roman"/>
              </a:rPr>
              <a:t>MITMProxy</a:t>
            </a:r>
            <a:r>
              <a:rPr lang="en-US" sz="1800">
                <a:highlight>
                  <a:srgbClr val="FFFFFF"/>
                </a:highlight>
                <a:latin typeface="Times New Roman"/>
                <a:cs typeface="Times New Roman"/>
              </a:rPr>
              <a:t> Program</a:t>
            </a:r>
          </a:p>
        </p:txBody>
      </p:sp>
      <p:pic>
        <p:nvPicPr>
          <p:cNvPr id="4" name="Picture 3" descr="Screenshot_20260402_190040.png">
            <a:extLst>
              <a:ext uri="{FF2B5EF4-FFF2-40B4-BE49-F238E27FC236}">
                <a16:creationId xmlns:a16="http://schemas.microsoft.com/office/drawing/2014/main" id="{E5703DB1-5BB7-FD63-8197-7A1D67EE9944}"/>
              </a:ext>
            </a:extLst>
          </p:cNvPr>
          <p:cNvPicPr>
            <a:picLocks noChangeAspect="1"/>
          </p:cNvPicPr>
          <p:nvPr/>
        </p:nvPicPr>
        <p:blipFill>
          <a:blip r:embed="rId3"/>
          <a:stretch>
            <a:fillRect/>
          </a:stretch>
        </p:blipFill>
        <p:spPr>
          <a:xfrm>
            <a:off x="4270476" y="1708171"/>
            <a:ext cx="7884783" cy="4440886"/>
          </a:xfrm>
          <a:prstGeom prst="rect">
            <a:avLst/>
          </a:prstGeom>
        </p:spPr>
      </p:pic>
      <p:sp>
        <p:nvSpPr>
          <p:cNvPr id="5" name="Arrow: Right 4">
            <a:extLst>
              <a:ext uri="{FF2B5EF4-FFF2-40B4-BE49-F238E27FC236}">
                <a16:creationId xmlns:a16="http://schemas.microsoft.com/office/drawing/2014/main" id="{9A923A74-2A1D-568F-B89F-ABB29A1CF069}"/>
              </a:ext>
            </a:extLst>
          </p:cNvPr>
          <p:cNvSpPr/>
          <p:nvPr/>
        </p:nvSpPr>
        <p:spPr>
          <a:xfrm rot="2760000">
            <a:off x="6740493" y="2858784"/>
            <a:ext cx="501908" cy="261705"/>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2DFF36E-0DCD-FAC9-CE8E-86AEAC946324}"/>
              </a:ext>
            </a:extLst>
          </p:cNvPr>
          <p:cNvSpPr txBox="1"/>
          <p:nvPr/>
        </p:nvSpPr>
        <p:spPr>
          <a:xfrm>
            <a:off x="10640865" y="6260111"/>
            <a:ext cx="11646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Figure 3.</a:t>
            </a:r>
          </a:p>
        </p:txBody>
      </p:sp>
    </p:spTree>
    <p:extLst>
      <p:ext uri="{BB962C8B-B14F-4D97-AF65-F5344CB8AC3E}">
        <p14:creationId xmlns:p14="http://schemas.microsoft.com/office/powerpoint/2010/main" val="515689224"/>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F8F205-AF21-450D-9532-8C97DD4B2AAD}"/>
              </a:ext>
            </a:extLst>
          </p:cNvPr>
          <p:cNvSpPr>
            <a:spLocks noGrp="1"/>
          </p:cNvSpPr>
          <p:nvPr>
            <p:ph type="title"/>
          </p:nvPr>
        </p:nvSpPr>
        <p:spPr>
          <a:xfrm>
            <a:off x="1383564" y="348865"/>
            <a:ext cx="9718111" cy="1576446"/>
          </a:xfrm>
        </p:spPr>
        <p:txBody>
          <a:bodyPr anchor="ctr">
            <a:normAutofit/>
          </a:bodyPr>
          <a:lstStyle/>
          <a:p>
            <a:r>
              <a:rPr lang="en-US" sz="4000" b="1">
                <a:solidFill>
                  <a:srgbClr val="FFFFFF"/>
                </a:solidFill>
                <a:latin typeface="Times New Roman"/>
                <a:ea typeface="+mj-lt"/>
                <a:cs typeface="Times New Roman"/>
              </a:rPr>
              <a:t>Test Case Execution</a:t>
            </a:r>
            <a:endParaRPr lang="en-US" sz="4000" b="1">
              <a:solidFill>
                <a:srgbClr val="FFFFFF"/>
              </a:solidFill>
              <a:latin typeface="Times New Roman"/>
              <a:cs typeface="Times New Roman"/>
            </a:endParaRPr>
          </a:p>
        </p:txBody>
      </p:sp>
      <p:graphicFrame>
        <p:nvGraphicFramePr>
          <p:cNvPr id="22" name="Content Placeholder 2">
            <a:extLst>
              <a:ext uri="{FF2B5EF4-FFF2-40B4-BE49-F238E27FC236}">
                <a16:creationId xmlns:a16="http://schemas.microsoft.com/office/drawing/2014/main" id="{ED2BEA18-85EE-A08C-F6E0-057940E4F5F7}"/>
              </a:ext>
            </a:extLst>
          </p:cNvPr>
          <p:cNvGraphicFramePr>
            <a:graphicFrameLocks noGrp="1"/>
          </p:cNvGraphicFramePr>
          <p:nvPr>
            <p:ph idx="1"/>
            <p:extLst>
              <p:ext uri="{D42A27DB-BD31-4B8C-83A1-F6EECF244321}">
                <p14:modId xmlns:p14="http://schemas.microsoft.com/office/powerpoint/2010/main" val="3232642306"/>
              </p:ext>
            </p:extLst>
          </p:nvPr>
        </p:nvGraphicFramePr>
        <p:xfrm>
          <a:off x="458295" y="3135844"/>
          <a:ext cx="5641005" cy="17775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5" name="Picture 124" descr="A screenshot of a computer&#10;&#10;AI-generated content may be incorrect.">
            <a:extLst>
              <a:ext uri="{FF2B5EF4-FFF2-40B4-BE49-F238E27FC236}">
                <a16:creationId xmlns:a16="http://schemas.microsoft.com/office/drawing/2014/main" id="{519D0A55-C72D-659B-368B-B99DF42FA0D1}"/>
              </a:ext>
            </a:extLst>
          </p:cNvPr>
          <p:cNvPicPr>
            <a:picLocks noChangeAspect="1"/>
          </p:cNvPicPr>
          <p:nvPr/>
        </p:nvPicPr>
        <p:blipFill>
          <a:blip r:embed="rId8"/>
          <a:srcRect l="48336" t="21776" r="-348"/>
          <a:stretch>
            <a:fillRect/>
          </a:stretch>
        </p:blipFill>
        <p:spPr>
          <a:xfrm>
            <a:off x="6241582" y="2274963"/>
            <a:ext cx="5508468" cy="4463902"/>
          </a:xfrm>
          <a:prstGeom prst="rect">
            <a:avLst/>
          </a:prstGeom>
        </p:spPr>
      </p:pic>
      <p:sp>
        <p:nvSpPr>
          <p:cNvPr id="146" name="Oval 145">
            <a:extLst>
              <a:ext uri="{FF2B5EF4-FFF2-40B4-BE49-F238E27FC236}">
                <a16:creationId xmlns:a16="http://schemas.microsoft.com/office/drawing/2014/main" id="{BD63112B-04B1-062F-D2D7-06764E87275B}"/>
              </a:ext>
            </a:extLst>
          </p:cNvPr>
          <p:cNvSpPr/>
          <p:nvPr/>
        </p:nvSpPr>
        <p:spPr>
          <a:xfrm>
            <a:off x="6446303" y="5264319"/>
            <a:ext cx="4899563" cy="96611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914425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D65B2-777B-62EF-C7C8-CA22075FD66B}"/>
              </a:ext>
            </a:extLst>
          </p:cNvPr>
          <p:cNvSpPr>
            <a:spLocks noGrp="1"/>
          </p:cNvSpPr>
          <p:nvPr>
            <p:ph type="title"/>
          </p:nvPr>
        </p:nvSpPr>
        <p:spPr>
          <a:xfrm>
            <a:off x="1371599" y="294538"/>
            <a:ext cx="9895951" cy="1033669"/>
          </a:xfrm>
        </p:spPr>
        <p:txBody>
          <a:bodyPr>
            <a:normAutofit/>
          </a:bodyPr>
          <a:lstStyle/>
          <a:p>
            <a:r>
              <a:rPr lang="en-US" sz="4000" b="1">
                <a:solidFill>
                  <a:srgbClr val="FFFFFF"/>
                </a:solidFill>
                <a:latin typeface="Times New Roman"/>
                <a:cs typeface="Times New Roman"/>
              </a:rPr>
              <a:t>Retrieved Logs</a:t>
            </a:r>
          </a:p>
        </p:txBody>
      </p:sp>
      <p:pic>
        <p:nvPicPr>
          <p:cNvPr id="4" name="Content Placeholder 3" descr="A screenshot of a computer&#10;&#10;AI-generated content may be incorrect.">
            <a:extLst>
              <a:ext uri="{FF2B5EF4-FFF2-40B4-BE49-F238E27FC236}">
                <a16:creationId xmlns:a16="http://schemas.microsoft.com/office/drawing/2014/main" id="{9F53C1DA-BA52-092F-5F9D-6733F72DAA0D}"/>
              </a:ext>
            </a:extLst>
          </p:cNvPr>
          <p:cNvPicPr>
            <a:picLocks noGrp="1" noChangeAspect="1"/>
          </p:cNvPicPr>
          <p:nvPr>
            <p:ph idx="1"/>
          </p:nvPr>
        </p:nvPicPr>
        <p:blipFill>
          <a:blip r:embed="rId2"/>
          <a:stretch>
            <a:fillRect/>
          </a:stretch>
        </p:blipFill>
        <p:spPr>
          <a:xfrm>
            <a:off x="3596908" y="1714173"/>
            <a:ext cx="4994041" cy="4956455"/>
          </a:xfrm>
          <a:prstGeom prst="rect">
            <a:avLst/>
          </a:prstGeom>
        </p:spPr>
      </p:pic>
    </p:spTree>
    <p:extLst>
      <p:ext uri="{BB962C8B-B14F-4D97-AF65-F5344CB8AC3E}">
        <p14:creationId xmlns:p14="http://schemas.microsoft.com/office/powerpoint/2010/main" val="587772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003170-97E6-D852-DEA7-CADE7D83ADE8}"/>
              </a:ext>
            </a:extLst>
          </p:cNvPr>
          <p:cNvSpPr>
            <a:spLocks noGrp="1"/>
          </p:cNvSpPr>
          <p:nvPr>
            <p:ph type="title"/>
          </p:nvPr>
        </p:nvSpPr>
        <p:spPr>
          <a:xfrm>
            <a:off x="1371599" y="294538"/>
            <a:ext cx="9895951" cy="1033669"/>
          </a:xfrm>
        </p:spPr>
        <p:txBody>
          <a:bodyPr>
            <a:normAutofit fontScale="90000"/>
          </a:bodyPr>
          <a:lstStyle/>
          <a:p>
            <a:r>
              <a:rPr lang="en-US" sz="4000" b="1">
                <a:solidFill>
                  <a:srgbClr val="FFFFFF"/>
                </a:solidFill>
                <a:latin typeface="Times New Roman"/>
                <a:ea typeface="Lato Extended"/>
                <a:cs typeface="Times New Roman"/>
              </a:rPr>
              <a:t>Phase 3: Log Collection and </a:t>
            </a:r>
            <a:br>
              <a:rPr lang="en-US" sz="4000" b="1">
                <a:solidFill>
                  <a:srgbClr val="FFFFFF"/>
                </a:solidFill>
                <a:latin typeface="Times New Roman"/>
                <a:ea typeface="Lato Extended"/>
                <a:cs typeface="Times New Roman"/>
              </a:rPr>
            </a:br>
            <a:r>
              <a:rPr lang="en-US" sz="4000" b="1">
                <a:solidFill>
                  <a:srgbClr val="FFFFFF"/>
                </a:solidFill>
                <a:latin typeface="Times New Roman"/>
                <a:ea typeface="Lato Extended"/>
                <a:cs typeface="Times New Roman"/>
              </a:rPr>
              <a:t>Preliminary Findings</a:t>
            </a:r>
          </a:p>
        </p:txBody>
      </p:sp>
      <p:sp>
        <p:nvSpPr>
          <p:cNvPr id="3" name="Content Placeholder 2">
            <a:extLst>
              <a:ext uri="{FF2B5EF4-FFF2-40B4-BE49-F238E27FC236}">
                <a16:creationId xmlns:a16="http://schemas.microsoft.com/office/drawing/2014/main" id="{D583723E-3EB3-05B9-A7C8-612ED3D60A4F}"/>
              </a:ext>
            </a:extLst>
          </p:cNvPr>
          <p:cNvSpPr>
            <a:spLocks noGrp="1"/>
          </p:cNvSpPr>
          <p:nvPr>
            <p:ph idx="1"/>
          </p:nvPr>
        </p:nvSpPr>
        <p:spPr>
          <a:xfrm>
            <a:off x="1058448" y="1717579"/>
            <a:ext cx="5694827" cy="4659757"/>
          </a:xfrm>
        </p:spPr>
        <p:txBody>
          <a:bodyPr vert="horz" lIns="91440" tIns="45720" rIns="91440" bIns="45720" rtlCol="0" anchor="ctr">
            <a:normAutofit/>
          </a:bodyPr>
          <a:lstStyle/>
          <a:p>
            <a:r>
              <a:rPr lang="en-US" sz="2000">
                <a:highlight>
                  <a:srgbClr val="FFFFFF"/>
                </a:highlight>
                <a:latin typeface="Times New Roman"/>
                <a:ea typeface="+mn-lt"/>
                <a:cs typeface="Times New Roman"/>
              </a:rPr>
              <a:t>Certificate Authority (CA) Certificate installed to inspect Google Gemini Ai chatbot.</a:t>
            </a:r>
            <a:endParaRPr lang="en-US">
              <a:latin typeface="Aptos" panose="020B0004020202020204"/>
              <a:ea typeface="+mn-lt"/>
              <a:cs typeface="Times New Roman"/>
            </a:endParaRPr>
          </a:p>
          <a:p>
            <a:r>
              <a:rPr lang="en-US" sz="2000">
                <a:highlight>
                  <a:srgbClr val="FFFFFF"/>
                </a:highlight>
                <a:latin typeface="Times New Roman"/>
                <a:ea typeface="+mn-lt"/>
                <a:cs typeface="Times New Roman"/>
              </a:rPr>
              <a:t>Deeper inspection suggested a much more concerning and interesting behavior. </a:t>
            </a:r>
            <a:endParaRPr lang="en-US"/>
          </a:p>
          <a:p>
            <a:r>
              <a:rPr lang="en-US" sz="2000">
                <a:highlight>
                  <a:srgbClr val="FFFFFF"/>
                </a:highlight>
                <a:latin typeface="Times New Roman"/>
                <a:ea typeface="+mn-lt"/>
                <a:cs typeface="Times New Roman"/>
              </a:rPr>
              <a:t>Gemini Ai is evading our data loss prevention.</a:t>
            </a:r>
          </a:p>
          <a:p>
            <a:r>
              <a:rPr lang="en-US" sz="2000">
                <a:highlight>
                  <a:srgbClr val="FFFFFF"/>
                </a:highlight>
                <a:latin typeface="Times New Roman"/>
                <a:ea typeface="+mn-lt"/>
                <a:cs typeface="Times New Roman"/>
              </a:rPr>
              <a:t>Willful evasion data loss prevention poses serious privacy concerns.</a:t>
            </a:r>
          </a:p>
        </p:txBody>
      </p:sp>
      <p:pic>
        <p:nvPicPr>
          <p:cNvPr id="4" name="Picture 3" descr="A screenshot of a chat&#10;&#10;AI-generated content may be incorrect.">
            <a:extLst>
              <a:ext uri="{FF2B5EF4-FFF2-40B4-BE49-F238E27FC236}">
                <a16:creationId xmlns:a16="http://schemas.microsoft.com/office/drawing/2014/main" id="{BC37D8F2-E32F-090A-ED1B-31E2B42CB0A7}"/>
              </a:ext>
            </a:extLst>
          </p:cNvPr>
          <p:cNvPicPr>
            <a:picLocks noChangeAspect="1"/>
          </p:cNvPicPr>
          <p:nvPr/>
        </p:nvPicPr>
        <p:blipFill>
          <a:blip r:embed="rId3"/>
          <a:srcRect l="25707" r="6645" b="5335"/>
          <a:stretch>
            <a:fillRect/>
          </a:stretch>
        </p:blipFill>
        <p:spPr>
          <a:xfrm>
            <a:off x="6748992" y="1896475"/>
            <a:ext cx="5053495" cy="3997345"/>
          </a:xfrm>
          <a:prstGeom prst="rect">
            <a:avLst/>
          </a:prstGeom>
        </p:spPr>
      </p:pic>
    </p:spTree>
    <p:extLst>
      <p:ext uri="{BB962C8B-B14F-4D97-AF65-F5344CB8AC3E}">
        <p14:creationId xmlns:p14="http://schemas.microsoft.com/office/powerpoint/2010/main" val="3769184040"/>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33F5C0-FD02-35A7-4F00-8139C9A97ACF}"/>
              </a:ext>
            </a:extLst>
          </p:cNvPr>
          <p:cNvSpPr>
            <a:spLocks noGrp="1"/>
          </p:cNvSpPr>
          <p:nvPr>
            <p:ph type="title"/>
          </p:nvPr>
        </p:nvSpPr>
        <p:spPr>
          <a:xfrm>
            <a:off x="1136397" y="502020"/>
            <a:ext cx="5323715" cy="1642970"/>
          </a:xfrm>
        </p:spPr>
        <p:txBody>
          <a:bodyPr anchor="b">
            <a:normAutofit/>
          </a:bodyPr>
          <a:lstStyle/>
          <a:p>
            <a:r>
              <a:rPr lang="en-US" sz="4000" b="1">
                <a:highlight>
                  <a:srgbClr val="FFFFFF"/>
                </a:highlight>
                <a:latin typeface="Times New Roman"/>
                <a:cs typeface="Times New Roman"/>
              </a:rPr>
              <a:t>Phase 3 Evaluation</a:t>
            </a:r>
          </a:p>
        </p:txBody>
      </p:sp>
      <p:sp>
        <p:nvSpPr>
          <p:cNvPr id="5" name="Content Placeholder 4">
            <a:extLst>
              <a:ext uri="{FF2B5EF4-FFF2-40B4-BE49-F238E27FC236}">
                <a16:creationId xmlns:a16="http://schemas.microsoft.com/office/drawing/2014/main" id="{02757502-1790-3577-B768-EB2D2A0D9882}"/>
              </a:ext>
            </a:extLst>
          </p:cNvPr>
          <p:cNvSpPr>
            <a:spLocks noGrp="1"/>
          </p:cNvSpPr>
          <p:nvPr>
            <p:ph idx="1"/>
          </p:nvPr>
        </p:nvSpPr>
        <p:spPr>
          <a:xfrm>
            <a:off x="573423" y="2405894"/>
            <a:ext cx="5315189" cy="3535083"/>
          </a:xfrm>
        </p:spPr>
        <p:txBody>
          <a:bodyPr vert="horz" lIns="91440" tIns="45720" rIns="91440" bIns="45720" rtlCol="0" anchor="t">
            <a:normAutofit/>
          </a:bodyPr>
          <a:lstStyle/>
          <a:p>
            <a:r>
              <a:rPr lang="en-US" sz="1300">
                <a:highlight>
                  <a:srgbClr val="FFFFFF"/>
                </a:highlight>
                <a:latin typeface="Times New Roman"/>
                <a:ea typeface="+mn-lt"/>
                <a:cs typeface="Times New Roman"/>
              </a:rPr>
              <a:t>Scoping</a:t>
            </a:r>
            <a:endParaRPr lang="en-US" sz="1300"/>
          </a:p>
          <a:p>
            <a:pPr lvl="1">
              <a:buFont typeface="Courier New" panose="020B0604020202020204" pitchFamily="34" charset="0"/>
              <a:buChar char="o"/>
            </a:pPr>
            <a:r>
              <a:rPr lang="en-US" sz="1300">
                <a:highlight>
                  <a:srgbClr val="FFFFFF"/>
                </a:highlight>
                <a:latin typeface="Times New Roman"/>
                <a:ea typeface="+mn-lt"/>
                <a:cs typeface="Times New Roman"/>
              </a:rPr>
              <a:t>Confidentiality data in transit to Google and other domains</a:t>
            </a:r>
          </a:p>
          <a:p>
            <a:pPr lvl="2">
              <a:buFont typeface="Wingdings" panose="020B0604020202020204" pitchFamily="34" charset="0"/>
              <a:buChar char="§"/>
            </a:pPr>
            <a:r>
              <a:rPr lang="en-US" sz="1300">
                <a:highlight>
                  <a:srgbClr val="FFFFFF"/>
                </a:highlight>
                <a:latin typeface="Times New Roman"/>
                <a:ea typeface="+mn-lt"/>
                <a:cs typeface="Times New Roman"/>
              </a:rPr>
              <a:t>Processes need to be reviewed and approved</a:t>
            </a:r>
          </a:p>
          <a:p>
            <a:pPr lvl="2">
              <a:buFont typeface="Wingdings" panose="020B0604020202020204" pitchFamily="34" charset="0"/>
              <a:buChar char="§"/>
            </a:pPr>
            <a:r>
              <a:rPr lang="en-US" sz="1300">
                <a:highlight>
                  <a:srgbClr val="FFFFFF"/>
                </a:highlight>
                <a:latin typeface="Times New Roman"/>
                <a:ea typeface="+mn-lt"/>
                <a:cs typeface="Times New Roman"/>
              </a:rPr>
              <a:t>Data at rest stored for hospital business use protected</a:t>
            </a:r>
          </a:p>
          <a:p>
            <a:pPr lvl="1">
              <a:buFont typeface="Courier New" panose="020B0604020202020204" pitchFamily="34" charset="0"/>
              <a:buChar char="o"/>
            </a:pPr>
            <a:r>
              <a:rPr lang="en-US" sz="1300">
                <a:highlight>
                  <a:srgbClr val="FFFFFF"/>
                </a:highlight>
                <a:latin typeface="Times New Roman"/>
                <a:ea typeface="+mn-lt"/>
                <a:cs typeface="Times New Roman"/>
              </a:rPr>
              <a:t>Integrity of data</a:t>
            </a:r>
          </a:p>
          <a:p>
            <a:pPr lvl="2">
              <a:buFont typeface="Wingdings" panose="020B0604020202020204" pitchFamily="34" charset="0"/>
              <a:buChar char="§"/>
            </a:pPr>
            <a:r>
              <a:rPr lang="en-US" sz="1300">
                <a:highlight>
                  <a:srgbClr val="FFFFFF"/>
                </a:highlight>
                <a:latin typeface="Times New Roman"/>
                <a:ea typeface="+mn-lt"/>
                <a:cs typeface="Times New Roman"/>
              </a:rPr>
              <a:t>Texas Data Privacy and Security Act (TDPSA)</a:t>
            </a:r>
          </a:p>
          <a:p>
            <a:pPr lvl="3"/>
            <a:r>
              <a:rPr lang="en-US" sz="1300">
                <a:highlight>
                  <a:srgbClr val="FFFFFF"/>
                </a:highlight>
                <a:latin typeface="Times New Roman"/>
                <a:ea typeface="+mn-lt"/>
                <a:cs typeface="Times New Roman"/>
              </a:rPr>
              <a:t>Data Processing Contract with Third Party</a:t>
            </a:r>
            <a:endParaRPr lang="en-US" sz="1300">
              <a:highlight>
                <a:srgbClr val="FFFFFF"/>
              </a:highlight>
              <a:latin typeface="Times New Roman"/>
              <a:cs typeface="Times New Roman"/>
            </a:endParaRPr>
          </a:p>
          <a:p>
            <a:pPr lvl="3"/>
            <a:r>
              <a:rPr lang="en-US" sz="1300">
                <a:highlight>
                  <a:srgbClr val="FFFFFF"/>
                </a:highlight>
                <a:latin typeface="Times New Roman"/>
                <a:ea typeface="+mn-lt"/>
                <a:cs typeface="Times New Roman"/>
              </a:rPr>
              <a:t>Technical and Physical Access Controls </a:t>
            </a:r>
          </a:p>
          <a:p>
            <a:pPr lvl="2">
              <a:buFont typeface="Wingdings" panose="020B0604020202020204" pitchFamily="34" charset="0"/>
              <a:buChar char="§"/>
            </a:pPr>
            <a:r>
              <a:rPr lang="en-US" sz="1300">
                <a:highlight>
                  <a:srgbClr val="FFFFFF"/>
                </a:highlight>
                <a:latin typeface="Times New Roman"/>
                <a:ea typeface="+mn-lt"/>
                <a:cs typeface="Times New Roman"/>
              </a:rPr>
              <a:t>Health  Insurance Portability and Accountability Act (HIPAA)</a:t>
            </a:r>
          </a:p>
          <a:p>
            <a:pPr lvl="3"/>
            <a:r>
              <a:rPr lang="en-US" sz="1300">
                <a:highlight>
                  <a:srgbClr val="FFFFFF"/>
                </a:highlight>
                <a:latin typeface="Times New Roman"/>
                <a:ea typeface="+mn-lt"/>
                <a:cs typeface="Times New Roman"/>
              </a:rPr>
              <a:t>Data Encryption AES 256 </a:t>
            </a:r>
          </a:p>
          <a:p>
            <a:pPr lvl="3"/>
            <a:r>
              <a:rPr lang="en-US" sz="1300">
                <a:highlight>
                  <a:srgbClr val="FFFFFF"/>
                </a:highlight>
                <a:latin typeface="Times New Roman"/>
                <a:ea typeface="+mn-lt"/>
                <a:cs typeface="Times New Roman"/>
              </a:rPr>
              <a:t>Access Controls</a:t>
            </a:r>
          </a:p>
          <a:p>
            <a:pPr lvl="2">
              <a:buFont typeface="Wingdings" panose="020B0604020202020204" pitchFamily="34" charset="0"/>
              <a:buChar char="§"/>
            </a:pPr>
            <a:r>
              <a:rPr lang="en-US" sz="1300">
                <a:highlight>
                  <a:srgbClr val="FFFFFF"/>
                </a:highlight>
                <a:latin typeface="Times New Roman"/>
                <a:ea typeface="+mn-lt"/>
                <a:cs typeface="Times New Roman"/>
              </a:rPr>
              <a:t>Texas Medical Records Privacy Act (TMRPA)</a:t>
            </a:r>
          </a:p>
          <a:p>
            <a:pPr lvl="3"/>
            <a:r>
              <a:rPr lang="en-US" sz="1300">
                <a:highlight>
                  <a:srgbClr val="FFFFFF"/>
                </a:highlight>
                <a:latin typeface="Times New Roman"/>
                <a:ea typeface="+mn-lt"/>
                <a:cs typeface="Times New Roman"/>
              </a:rPr>
              <a:t>Sec. 182.108. Subchapter C.1 and 2</a:t>
            </a:r>
          </a:p>
          <a:p>
            <a:pPr lvl="3"/>
            <a:endParaRPr lang="en-US" sz="1300">
              <a:highlight>
                <a:srgbClr val="FFFFFF"/>
              </a:highlight>
              <a:latin typeface="Times New Roman"/>
              <a:ea typeface="+mn-lt"/>
              <a:cs typeface="Times New Roman"/>
            </a:endParaRPr>
          </a:p>
          <a:p>
            <a:pPr lvl="2">
              <a:buFont typeface="Wingdings" panose="020B0604020202020204" pitchFamily="34" charset="0"/>
              <a:buChar char="§"/>
            </a:pPr>
            <a:endParaRPr lang="en-US" sz="1300">
              <a:highlight>
                <a:srgbClr val="FFFFFF"/>
              </a:highlight>
              <a:latin typeface="Times New Roman"/>
              <a:ea typeface="+mn-lt"/>
              <a:cs typeface="Times New Roman"/>
            </a:endParaRPr>
          </a:p>
          <a:p>
            <a:pPr lvl="3"/>
            <a:endParaRPr lang="en-US" sz="1300">
              <a:highlight>
                <a:srgbClr val="FFFFFF"/>
              </a:highlight>
              <a:latin typeface="Times New Roman"/>
              <a:ea typeface="+mn-lt"/>
              <a:cs typeface="Times New Roman"/>
            </a:endParaRPr>
          </a:p>
          <a:p>
            <a:pPr lvl="2">
              <a:buFont typeface="Wingdings" panose="020B0604020202020204" pitchFamily="34" charset="0"/>
              <a:buChar char="§"/>
            </a:pPr>
            <a:endParaRPr lang="en-US" sz="1300">
              <a:highlight>
                <a:srgbClr val="FFFFFF"/>
              </a:highlight>
              <a:latin typeface="Times New Roman"/>
              <a:ea typeface="+mn-lt"/>
              <a:cs typeface="Times New Roman"/>
            </a:endParaRPr>
          </a:p>
          <a:p>
            <a:endParaRPr lang="en-US" sz="1300">
              <a:highlight>
                <a:srgbClr val="FFFFFF"/>
              </a:highlight>
              <a:latin typeface="Times New Roman"/>
              <a:ea typeface="+mn-lt"/>
              <a:cs typeface="Times New Roman"/>
            </a:endParaRPr>
          </a:p>
        </p:txBody>
      </p:sp>
      <p:sp>
        <p:nvSpPr>
          <p:cNvPr id="25" name="Rectangle 24">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table with text and images&#10;&#10;AI-generated content may be incorrect.">
            <a:extLst>
              <a:ext uri="{FF2B5EF4-FFF2-40B4-BE49-F238E27FC236}">
                <a16:creationId xmlns:a16="http://schemas.microsoft.com/office/drawing/2014/main" id="{9EF5ED7B-B293-0B3E-F56B-3585CD3319FE}"/>
              </a:ext>
            </a:extLst>
          </p:cNvPr>
          <p:cNvPicPr>
            <a:picLocks noChangeAspect="1"/>
          </p:cNvPicPr>
          <p:nvPr/>
        </p:nvPicPr>
        <p:blipFill>
          <a:blip r:embed="rId3"/>
          <a:stretch>
            <a:fillRect/>
          </a:stretch>
        </p:blipFill>
        <p:spPr>
          <a:xfrm>
            <a:off x="5894867" y="1711577"/>
            <a:ext cx="6227930" cy="3365138"/>
          </a:xfrm>
          <a:prstGeom prst="rect">
            <a:avLst/>
          </a:prstGeom>
        </p:spPr>
      </p:pic>
    </p:spTree>
    <p:extLst>
      <p:ext uri="{BB962C8B-B14F-4D97-AF65-F5344CB8AC3E}">
        <p14:creationId xmlns:p14="http://schemas.microsoft.com/office/powerpoint/2010/main" val="1327211928"/>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9" name="Rectangle 1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DE3775-89C5-56C1-419B-0919D5F96972}"/>
              </a:ext>
            </a:extLst>
          </p:cNvPr>
          <p:cNvSpPr>
            <a:spLocks noGrp="1"/>
          </p:cNvSpPr>
          <p:nvPr>
            <p:ph type="title"/>
          </p:nvPr>
        </p:nvSpPr>
        <p:spPr>
          <a:xfrm>
            <a:off x="761803" y="350196"/>
            <a:ext cx="4646904" cy="1624520"/>
          </a:xfrm>
        </p:spPr>
        <p:txBody>
          <a:bodyPr anchor="ctr">
            <a:normAutofit/>
          </a:bodyPr>
          <a:lstStyle/>
          <a:p>
            <a:r>
              <a:rPr lang="en-US" sz="4000" b="1">
                <a:latin typeface="Times New Roman"/>
                <a:cs typeface="Times New Roman"/>
              </a:rPr>
              <a:t>Phase 3 Regulatory Mapping </a:t>
            </a:r>
          </a:p>
        </p:txBody>
      </p:sp>
      <p:sp>
        <p:nvSpPr>
          <p:cNvPr id="3" name="Content Placeholder 2">
            <a:extLst>
              <a:ext uri="{FF2B5EF4-FFF2-40B4-BE49-F238E27FC236}">
                <a16:creationId xmlns:a16="http://schemas.microsoft.com/office/drawing/2014/main" id="{989BB45F-9202-1D8B-22B2-FD32D9ED8F9E}"/>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a:highlight>
                  <a:srgbClr val="FFFFFF"/>
                </a:highlight>
                <a:latin typeface="Times New Roman"/>
                <a:cs typeface="Times New Roman"/>
              </a:rPr>
              <a:t>Shared Data with Google and other domains</a:t>
            </a:r>
          </a:p>
          <a:p>
            <a:pPr lvl="1">
              <a:buFont typeface="Courier New" panose="020B0604020202020204" pitchFamily="34" charset="0"/>
              <a:buChar char="o"/>
            </a:pPr>
            <a:r>
              <a:rPr lang="en-US" sz="2000">
                <a:highlight>
                  <a:srgbClr val="FFFFFF"/>
                </a:highlight>
                <a:latin typeface="Times New Roman"/>
                <a:cs typeface="Times New Roman"/>
              </a:rPr>
              <a:t>Business Associate Agreement</a:t>
            </a:r>
          </a:p>
          <a:p>
            <a:pPr lvl="1">
              <a:buFont typeface="Courier New" panose="020B0604020202020204" pitchFamily="34" charset="0"/>
              <a:buChar char="o"/>
            </a:pPr>
            <a:r>
              <a:rPr lang="en-US" sz="2000">
                <a:highlight>
                  <a:srgbClr val="FFFFFF"/>
                </a:highlight>
                <a:latin typeface="Times New Roman"/>
                <a:cs typeface="Times New Roman"/>
              </a:rPr>
              <a:t>Compliance Certificate</a:t>
            </a:r>
          </a:p>
          <a:p>
            <a:r>
              <a:rPr lang="en-US" sz="2000">
                <a:highlight>
                  <a:srgbClr val="FFFFFF"/>
                </a:highlight>
                <a:latin typeface="Times New Roman"/>
                <a:cs typeface="Times New Roman"/>
              </a:rPr>
              <a:t>Approved processes</a:t>
            </a:r>
          </a:p>
          <a:p>
            <a:r>
              <a:rPr lang="en-US" sz="2000">
                <a:highlight>
                  <a:srgbClr val="FFFFFF"/>
                </a:highlight>
                <a:latin typeface="Times New Roman"/>
                <a:cs typeface="Times New Roman"/>
              </a:rPr>
              <a:t>Approved users </a:t>
            </a:r>
          </a:p>
          <a:p>
            <a:endParaRPr lang="en-US" sz="2000">
              <a:highlight>
                <a:srgbClr val="FFFFFF"/>
              </a:highlight>
              <a:latin typeface="Times New Roman"/>
              <a:cs typeface="Times New Roman"/>
            </a:endParaRPr>
          </a:p>
          <a:p>
            <a:pPr marL="0" indent="0">
              <a:buNone/>
            </a:pPr>
            <a:endParaRPr lang="en-US" sz="2000"/>
          </a:p>
        </p:txBody>
      </p:sp>
      <p:pic>
        <p:nvPicPr>
          <p:cNvPr id="4" name="Picture 3" descr="A circular diagram with arrows&#10;&#10;AI-generated content may be incorrect.">
            <a:extLst>
              <a:ext uri="{FF2B5EF4-FFF2-40B4-BE49-F238E27FC236}">
                <a16:creationId xmlns:a16="http://schemas.microsoft.com/office/drawing/2014/main" id="{50AA17A9-5E05-FEC8-FE0D-82D0BA3C3545}"/>
              </a:ext>
            </a:extLst>
          </p:cNvPr>
          <p:cNvPicPr>
            <a:picLocks noChangeAspect="1"/>
          </p:cNvPicPr>
          <p:nvPr/>
        </p:nvPicPr>
        <p:blipFill>
          <a:blip r:embed="rId3"/>
          <a:srcRect l="8712" r="3412"/>
          <a:stretch>
            <a:fillRect/>
          </a:stretch>
        </p:blipFill>
        <p:spPr>
          <a:xfrm>
            <a:off x="6580093" y="1138518"/>
            <a:ext cx="3888545" cy="4410636"/>
          </a:xfrm>
          <a:prstGeom prst="rect">
            <a:avLst/>
          </a:prstGeom>
        </p:spPr>
      </p:pic>
    </p:spTree>
    <p:extLst>
      <p:ext uri="{BB962C8B-B14F-4D97-AF65-F5344CB8AC3E}">
        <p14:creationId xmlns:p14="http://schemas.microsoft.com/office/powerpoint/2010/main" val="3497589394"/>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00FF7C-F3A2-0191-85C8-83338A26AEC0}"/>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085017-054D-8E55-38EA-F021BCB01551}"/>
              </a:ext>
            </a:extLst>
          </p:cNvPr>
          <p:cNvSpPr>
            <a:spLocks noGrp="1"/>
          </p:cNvSpPr>
          <p:nvPr>
            <p:ph type="title"/>
          </p:nvPr>
        </p:nvSpPr>
        <p:spPr>
          <a:xfrm>
            <a:off x="1371599" y="294538"/>
            <a:ext cx="9895951" cy="1033669"/>
          </a:xfrm>
        </p:spPr>
        <p:txBody>
          <a:bodyPr>
            <a:normAutofit/>
          </a:bodyPr>
          <a:lstStyle/>
          <a:p>
            <a:pPr algn="ctr"/>
            <a:r>
              <a:rPr lang="en-US" b="1">
                <a:solidFill>
                  <a:srgbClr val="FFFFFF"/>
                </a:solidFill>
                <a:latin typeface="Times New Roman"/>
                <a:cs typeface="Times New Roman"/>
              </a:rPr>
              <a:t>References</a:t>
            </a:r>
            <a:endParaRPr lang="en-US" b="1"/>
          </a:p>
        </p:txBody>
      </p:sp>
      <p:sp>
        <p:nvSpPr>
          <p:cNvPr id="3" name="Content Placeholder 2">
            <a:extLst>
              <a:ext uri="{FF2B5EF4-FFF2-40B4-BE49-F238E27FC236}">
                <a16:creationId xmlns:a16="http://schemas.microsoft.com/office/drawing/2014/main" id="{8FAC28FE-698B-B795-8A4F-685F07188BBB}"/>
              </a:ext>
            </a:extLst>
          </p:cNvPr>
          <p:cNvSpPr>
            <a:spLocks noGrp="1"/>
          </p:cNvSpPr>
          <p:nvPr>
            <p:ph idx="1"/>
          </p:nvPr>
        </p:nvSpPr>
        <p:spPr>
          <a:xfrm>
            <a:off x="827314" y="1713436"/>
            <a:ext cx="10776316" cy="4880786"/>
          </a:xfrm>
        </p:spPr>
        <p:txBody>
          <a:bodyPr vert="horz" lIns="91440" tIns="45720" rIns="91440" bIns="45720" rtlCol="0" anchor="ctr">
            <a:noAutofit/>
          </a:bodyPr>
          <a:lstStyle/>
          <a:p>
            <a:r>
              <a:rPr lang="en-US" sz="1400" err="1">
                <a:highlight>
                  <a:srgbClr val="FFFFFF"/>
                </a:highlight>
                <a:latin typeface="Times New Roman"/>
                <a:ea typeface="+mn-lt"/>
                <a:cs typeface="Times New Roman"/>
              </a:rPr>
              <a:t>Censinet</a:t>
            </a:r>
            <a:r>
              <a:rPr lang="en-US" sz="1400">
                <a:highlight>
                  <a:srgbClr val="FFFFFF"/>
                </a:highlight>
                <a:latin typeface="Times New Roman"/>
                <a:ea typeface="+mn-lt"/>
                <a:cs typeface="Times New Roman"/>
              </a:rPr>
              <a:t>. (n.d.). </a:t>
            </a:r>
            <a:r>
              <a:rPr lang="en-US" sz="1400" i="1">
                <a:highlight>
                  <a:srgbClr val="FFFFFF"/>
                </a:highlight>
                <a:latin typeface="Times New Roman"/>
                <a:ea typeface="+mn-lt"/>
                <a:cs typeface="Times New Roman"/>
              </a:rPr>
              <a:t>Texas Medical Records Privacy Act: Ultimate guide</a:t>
            </a:r>
            <a:r>
              <a:rPr lang="en-US" sz="1400">
                <a:highlight>
                  <a:srgbClr val="FFFFFF"/>
                </a:highlight>
                <a:latin typeface="Times New Roman"/>
                <a:ea typeface="+mn-lt"/>
                <a:cs typeface="Times New Roman"/>
              </a:rPr>
              <a:t>. </a:t>
            </a:r>
            <a:r>
              <a:rPr lang="en-US" sz="1400" err="1">
                <a:highlight>
                  <a:srgbClr val="FFFFFF"/>
                </a:highlight>
                <a:latin typeface="Times New Roman"/>
                <a:ea typeface="+mn-lt"/>
                <a:cs typeface="Times New Roman"/>
              </a:rPr>
              <a:t>Censinet</a:t>
            </a:r>
            <a:r>
              <a:rPr lang="en-US" sz="1400">
                <a:highlight>
                  <a:srgbClr val="FFFFFF"/>
                </a:highlight>
                <a:latin typeface="Times New Roman"/>
                <a:ea typeface="+mn-lt"/>
                <a:cs typeface="Times New Roman"/>
              </a:rPr>
              <a:t>. </a:t>
            </a:r>
            <a:r>
              <a:rPr lang="en-US" sz="1400">
                <a:highlight>
                  <a:srgbClr val="FFFFFF"/>
                </a:highlight>
                <a:latin typeface="Times New Roman"/>
                <a:ea typeface="+mn-lt"/>
                <a:cs typeface="Times New Roman"/>
                <a:hlinkClick r:id="rId2"/>
              </a:rPr>
              <a:t>https://censinet.com/perspectives/texas-medical-records-privacy-act-ultimate-guide</a:t>
            </a:r>
            <a:endParaRPr lang="en-US" sz="1400">
              <a:highlight>
                <a:srgbClr val="FFFFFF"/>
              </a:highlight>
              <a:latin typeface="Times New Roman"/>
              <a:cs typeface="Times New Roman"/>
            </a:endParaRPr>
          </a:p>
          <a:p>
            <a:r>
              <a:rPr lang="en-US" sz="1400">
                <a:highlight>
                  <a:srgbClr val="FFFFFF"/>
                </a:highlight>
                <a:latin typeface="Times New Roman"/>
                <a:cs typeface="Times New Roman"/>
              </a:rPr>
              <a:t>Corrado, G., &amp; Barral, J. (2024, May 15). </a:t>
            </a:r>
            <a:r>
              <a:rPr lang="en-US" sz="1400" i="1">
                <a:highlight>
                  <a:srgbClr val="FFFFFF"/>
                </a:highlight>
                <a:latin typeface="Times New Roman"/>
                <a:cs typeface="Times New Roman"/>
              </a:rPr>
              <a:t>Advancing medical AI with Med-Gemini</a:t>
            </a:r>
            <a:r>
              <a:rPr lang="en-US" sz="1400">
                <a:highlight>
                  <a:srgbClr val="FFFFFF"/>
                </a:highlight>
                <a:latin typeface="Times New Roman"/>
                <a:cs typeface="Times New Roman"/>
              </a:rPr>
              <a:t>. Google Research. </a:t>
            </a:r>
            <a:r>
              <a:rPr lang="en-US" sz="1400" u="sng">
                <a:highlight>
                  <a:srgbClr val="FFFFFF"/>
                </a:highlight>
                <a:latin typeface="Times New Roman"/>
                <a:cs typeface="Times New Roman"/>
                <a:hlinkClick r:id="rId3"/>
              </a:rPr>
              <a:t>https://research.google/blog/advancing-medical-ai-with-med-gemini/</a:t>
            </a:r>
            <a:endParaRPr lang="en-US" sz="1400">
              <a:highlight>
                <a:srgbClr val="FFFFFF"/>
              </a:highlight>
              <a:latin typeface="Times New Roman"/>
              <a:cs typeface="Times New Roman"/>
            </a:endParaRPr>
          </a:p>
          <a:p>
            <a:r>
              <a:rPr lang="en-US" sz="1400">
                <a:highlight>
                  <a:srgbClr val="FFFFFF"/>
                </a:highlight>
                <a:latin typeface="Times New Roman"/>
                <a:cs typeface="Times New Roman"/>
              </a:rPr>
              <a:t>GE HealthCare. (2025, December 3). </a:t>
            </a:r>
            <a:r>
              <a:rPr lang="en-US" sz="1400" i="1">
                <a:highlight>
                  <a:srgbClr val="FFFFFF"/>
                </a:highlight>
                <a:latin typeface="Times New Roman"/>
                <a:cs typeface="Times New Roman"/>
              </a:rPr>
              <a:t>GE HealthCare and Mayo Clinic unveil GEMINI-RT, a bold research collaboration in radiation therapy and advanced cancer care</a:t>
            </a:r>
            <a:r>
              <a:rPr lang="en-US" sz="1400">
                <a:highlight>
                  <a:srgbClr val="FFFFFF"/>
                </a:highlight>
                <a:latin typeface="Times New Roman"/>
                <a:cs typeface="Times New Roman"/>
              </a:rPr>
              <a:t>. </a:t>
            </a:r>
            <a:r>
              <a:rPr lang="en-US" sz="1400" u="sng">
                <a:highlight>
                  <a:srgbClr val="FFFFFF"/>
                </a:highlight>
                <a:latin typeface="Times New Roman"/>
                <a:cs typeface="Times New Roman"/>
                <a:hlinkClick r:id="rId4"/>
              </a:rPr>
              <a:t>https://investor.gehealthcare.com/news-releases/news-release-details/ge-healthcare-and-mayo-clinic-unveil-gemini-rt-bold-research/</a:t>
            </a:r>
            <a:endParaRPr lang="en-US" sz="1400">
              <a:highlight>
                <a:srgbClr val="FFFFFF"/>
              </a:highlight>
              <a:latin typeface="Times New Roman"/>
              <a:cs typeface="Times New Roman"/>
            </a:endParaRPr>
          </a:p>
          <a:p>
            <a:r>
              <a:rPr lang="en-US" sz="1400">
                <a:highlight>
                  <a:srgbClr val="FFFFFF"/>
                </a:highlight>
                <a:latin typeface="Times New Roman"/>
                <a:cs typeface="Times New Roman"/>
              </a:rPr>
              <a:t>Google Cloud. (n.d.). </a:t>
            </a:r>
            <a:r>
              <a:rPr lang="en-US" sz="1400" i="1">
                <a:highlight>
                  <a:srgbClr val="FFFFFF"/>
                </a:highlight>
                <a:latin typeface="Times New Roman"/>
                <a:cs typeface="Times New Roman"/>
              </a:rPr>
              <a:t>Gemini Enterprise security overview</a:t>
            </a:r>
            <a:r>
              <a:rPr lang="en-US" sz="1400">
                <a:highlight>
                  <a:srgbClr val="FFFFFF"/>
                </a:highlight>
                <a:latin typeface="Times New Roman"/>
                <a:cs typeface="Times New Roman"/>
              </a:rPr>
              <a:t>. Google Cloud Documentation. </a:t>
            </a:r>
            <a:r>
              <a:rPr lang="en-US" sz="1400" u="sng">
                <a:highlight>
                  <a:srgbClr val="FFFFFF"/>
                </a:highlight>
                <a:latin typeface="Times New Roman"/>
                <a:cs typeface="Times New Roman"/>
                <a:hlinkClick r:id="rId5"/>
              </a:rPr>
              <a:t>https://docs.cloud.google.com/gemini/enterprise/docs/security-overview</a:t>
            </a:r>
            <a:endParaRPr lang="en-US" sz="1400">
              <a:highlight>
                <a:srgbClr val="FFFFFF"/>
              </a:highlight>
              <a:latin typeface="Times New Roman"/>
              <a:cs typeface="Times New Roman"/>
            </a:endParaRPr>
          </a:p>
          <a:p>
            <a:r>
              <a:rPr lang="en-US" sz="1400">
                <a:highlight>
                  <a:srgbClr val="FFFFFF"/>
                </a:highlight>
                <a:latin typeface="Times New Roman"/>
                <a:cs typeface="Times New Roman"/>
              </a:rPr>
              <a:t>Google Cloud. (n.d.). </a:t>
            </a:r>
            <a:r>
              <a:rPr lang="en-US" sz="1400" i="1">
                <a:highlight>
                  <a:srgbClr val="FFFFFF"/>
                </a:highlight>
                <a:latin typeface="Times New Roman"/>
                <a:cs typeface="Times New Roman"/>
              </a:rPr>
              <a:t>Security controls for Generative AI | Gemini Enterprise Agent Platform</a:t>
            </a:r>
            <a:r>
              <a:rPr lang="en-US" sz="1400">
                <a:highlight>
                  <a:srgbClr val="FFFFFF"/>
                </a:highlight>
                <a:latin typeface="Times New Roman"/>
                <a:cs typeface="Times New Roman"/>
              </a:rPr>
              <a:t>. Google Cloud Documentation. </a:t>
            </a:r>
            <a:r>
              <a:rPr lang="en-US" sz="1400" u="sng">
                <a:highlight>
                  <a:srgbClr val="FFFFFF"/>
                </a:highlight>
                <a:latin typeface="Times New Roman"/>
                <a:cs typeface="Times New Roman"/>
                <a:hlinkClick r:id="rId6"/>
              </a:rPr>
              <a:t>https://docs.cloud.google.com/gemini-enterprise-agent-platform/models/security-controls</a:t>
            </a:r>
            <a:endParaRPr lang="en-US" sz="1400">
              <a:highlight>
                <a:srgbClr val="FFFFFF"/>
              </a:highlight>
              <a:latin typeface="Times New Roman"/>
              <a:cs typeface="Times New Roman"/>
            </a:endParaRPr>
          </a:p>
          <a:p>
            <a:r>
              <a:rPr lang="en-US" sz="1400">
                <a:highlight>
                  <a:srgbClr val="FFFFFF"/>
                </a:highlight>
                <a:latin typeface="Times New Roman"/>
                <a:cs typeface="Times New Roman"/>
              </a:rPr>
              <a:t>Google DeepMind. (2025, November). </a:t>
            </a:r>
            <a:r>
              <a:rPr lang="en-US" sz="1400" i="1">
                <a:highlight>
                  <a:srgbClr val="FFFFFF"/>
                </a:highlight>
                <a:latin typeface="Times New Roman"/>
                <a:cs typeface="Times New Roman"/>
              </a:rPr>
              <a:t>Frontier safety framework report – Gemini 3 Pro</a:t>
            </a:r>
            <a:r>
              <a:rPr lang="en-US" sz="1400">
                <a:highlight>
                  <a:srgbClr val="FFFFFF"/>
                </a:highlight>
                <a:latin typeface="Times New Roman"/>
                <a:cs typeface="Times New Roman"/>
              </a:rPr>
              <a:t>. </a:t>
            </a:r>
            <a:r>
              <a:rPr lang="en-US" sz="1400" u="sng">
                <a:highlight>
                  <a:srgbClr val="FFFFFF"/>
                </a:highlight>
                <a:latin typeface="Times New Roman"/>
                <a:cs typeface="Times New Roman"/>
                <a:hlinkClick r:id="rId7"/>
              </a:rPr>
              <a:t>https://storage.googleapis.com/deepmind-media/gemini/gemini_3_pro_fsf_report.pdf</a:t>
            </a:r>
            <a:endParaRPr lang="en-US" sz="1400">
              <a:highlight>
                <a:srgbClr val="FFFFFF"/>
              </a:highlight>
              <a:latin typeface="Times New Roman"/>
              <a:cs typeface="Times New Roman"/>
            </a:endParaRPr>
          </a:p>
          <a:p>
            <a:r>
              <a:rPr lang="en-US" sz="1400">
                <a:highlight>
                  <a:srgbClr val="FFFFFF"/>
                </a:highlight>
                <a:latin typeface="Times New Roman"/>
                <a:cs typeface="Times New Roman"/>
              </a:rPr>
              <a:t>Google. (2025). </a:t>
            </a:r>
            <a:r>
              <a:rPr lang="en-US" sz="1400" i="1">
                <a:highlight>
                  <a:srgbClr val="FFFFFF"/>
                </a:highlight>
                <a:latin typeface="Times New Roman"/>
                <a:cs typeface="Times New Roman"/>
              </a:rPr>
              <a:t>Google Workspace and Cloud Identity HIPAA implementation guide</a:t>
            </a:r>
            <a:r>
              <a:rPr lang="en-US" sz="1400">
                <a:highlight>
                  <a:srgbClr val="FFFFFF"/>
                </a:highlight>
                <a:latin typeface="Times New Roman"/>
                <a:cs typeface="Times New Roman"/>
              </a:rPr>
              <a:t>. </a:t>
            </a:r>
            <a:r>
              <a:rPr lang="en-US" sz="1400" u="sng">
                <a:highlight>
                  <a:srgbClr val="FFFFFF"/>
                </a:highlight>
                <a:latin typeface="Times New Roman"/>
                <a:cs typeface="Times New Roman"/>
                <a:hlinkClick r:id="rId8"/>
              </a:rPr>
              <a:t>https://services.google.com/fh/files/misc/gsuite_cloud_identity_hipaa_implementation_guide.pdf</a:t>
            </a:r>
            <a:endParaRPr lang="en-US" sz="1400">
              <a:highlight>
                <a:srgbClr val="FFFFFF"/>
              </a:highlight>
              <a:latin typeface="Times New Roman"/>
              <a:cs typeface="Times New Roman"/>
            </a:endParaRPr>
          </a:p>
          <a:p>
            <a:r>
              <a:rPr lang="en-US" sz="1400">
                <a:highlight>
                  <a:srgbClr val="FFFFFF"/>
                </a:highlight>
                <a:latin typeface="Times New Roman"/>
                <a:cs typeface="Times New Roman"/>
              </a:rPr>
              <a:t>HIPAA Journal. (n.d.). </a:t>
            </a:r>
            <a:r>
              <a:rPr lang="en-US" sz="1400" i="1">
                <a:highlight>
                  <a:srgbClr val="FFFFFF"/>
                </a:highlight>
                <a:latin typeface="Times New Roman"/>
                <a:cs typeface="Times New Roman"/>
              </a:rPr>
              <a:t>What is Texas HB 300?</a:t>
            </a:r>
            <a:r>
              <a:rPr lang="en-US" sz="1400">
                <a:highlight>
                  <a:srgbClr val="FFFFFF"/>
                </a:highlight>
                <a:latin typeface="Times New Roman"/>
                <a:cs typeface="Times New Roman"/>
              </a:rPr>
              <a:t> </a:t>
            </a:r>
            <a:r>
              <a:rPr lang="en-US" sz="1400" u="sng">
                <a:highlight>
                  <a:srgbClr val="FFFFFF"/>
                </a:highlight>
                <a:latin typeface="Times New Roman"/>
                <a:cs typeface="Times New Roman"/>
                <a:hlinkClick r:id="rId9"/>
              </a:rPr>
              <a:t>https://www.hipaajournal.com/what-is-texas-hb-300/</a:t>
            </a:r>
            <a:endParaRPr lang="en-US" sz="1400">
              <a:highlight>
                <a:srgbClr val="FFFFFF"/>
              </a:highlight>
              <a:latin typeface="Times New Roman"/>
              <a:cs typeface="Times New Roman"/>
            </a:endParaRPr>
          </a:p>
          <a:p>
            <a:r>
              <a:rPr lang="en-US" sz="1400" err="1">
                <a:highlight>
                  <a:srgbClr val="FFFFFF"/>
                </a:highlight>
                <a:latin typeface="Times New Roman"/>
                <a:cs typeface="Times New Roman"/>
              </a:rPr>
              <a:t>MiTMProxy</a:t>
            </a:r>
            <a:r>
              <a:rPr lang="en-US" sz="1400">
                <a:highlight>
                  <a:srgbClr val="FFFFFF"/>
                </a:highlight>
                <a:latin typeface="Times New Roman"/>
                <a:cs typeface="Times New Roman"/>
              </a:rPr>
              <a:t>. (2025, October 25). </a:t>
            </a:r>
            <a:r>
              <a:rPr lang="en-US" sz="1400" i="1">
                <a:highlight>
                  <a:srgbClr val="FFFFFF"/>
                </a:highlight>
                <a:latin typeface="Times New Roman"/>
                <a:cs typeface="Times New Roman"/>
              </a:rPr>
              <a:t>Mobile security simplified</a:t>
            </a:r>
            <a:r>
              <a:rPr lang="en-US" sz="1400">
                <a:highlight>
                  <a:srgbClr val="FFFFFF"/>
                </a:highlight>
                <a:latin typeface="Times New Roman"/>
                <a:cs typeface="Times New Roman"/>
              </a:rPr>
              <a:t>. </a:t>
            </a:r>
            <a:r>
              <a:rPr lang="en-US" sz="1400" u="sng">
                <a:highlight>
                  <a:srgbClr val="FFFFFF"/>
                </a:highlight>
                <a:latin typeface="Times New Roman"/>
                <a:cs typeface="Times New Roman"/>
                <a:hlinkClick r:id="rId10"/>
              </a:rPr>
              <a:t>https://mitmproxy.org/</a:t>
            </a:r>
            <a:endParaRPr lang="en-US" sz="1400">
              <a:highlight>
                <a:srgbClr val="FFFFFF"/>
              </a:highlight>
              <a:latin typeface="Times New Roman"/>
              <a:cs typeface="Times New Roman"/>
            </a:endParaRPr>
          </a:p>
          <a:p>
            <a:r>
              <a:rPr lang="en-US" sz="1400">
                <a:highlight>
                  <a:srgbClr val="FFFFFF"/>
                </a:highlight>
                <a:latin typeface="Times New Roman"/>
                <a:cs typeface="Times New Roman"/>
              </a:rPr>
              <a:t>State Bar of Texas. (2025). </a:t>
            </a:r>
            <a:r>
              <a:rPr lang="en-US" sz="1400" i="1">
                <a:highlight>
                  <a:srgbClr val="FFFFFF"/>
                </a:highlight>
                <a:latin typeface="Times New Roman"/>
                <a:cs typeface="Times New Roman"/>
              </a:rPr>
              <a:t>Articles</a:t>
            </a:r>
            <a:r>
              <a:rPr lang="en-US" sz="1400">
                <a:highlight>
                  <a:srgbClr val="FFFFFF"/>
                </a:highlight>
                <a:latin typeface="Times New Roman"/>
                <a:cs typeface="Times New Roman"/>
              </a:rPr>
              <a:t>. </a:t>
            </a:r>
            <a:r>
              <a:rPr lang="en-US" sz="1400" u="sng">
                <a:highlight>
                  <a:srgbClr val="FFFFFF"/>
                </a:highlight>
                <a:latin typeface="Times New Roman"/>
                <a:cs typeface="Times New Roman"/>
                <a:hlinkClick r:id="rId11"/>
              </a:rPr>
              <a:t>https://www.texasbar.com/AM/Template.cfm?Section=articles&amp;ContentID=69386&amp;Template=/CM/HTMLDisplay.cfm</a:t>
            </a:r>
            <a:endParaRPr lang="en-US" sz="1400">
              <a:highlight>
                <a:srgbClr val="FFFFFF"/>
              </a:highlight>
            </a:endParaRPr>
          </a:p>
        </p:txBody>
      </p:sp>
    </p:spTree>
    <p:extLst>
      <p:ext uri="{BB962C8B-B14F-4D97-AF65-F5344CB8AC3E}">
        <p14:creationId xmlns:p14="http://schemas.microsoft.com/office/powerpoint/2010/main" val="2135867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fa5be20-dc39-4186-a780-7e1bcec99d18}" enabled="1" method="Standard" siteId="{c5063431-d7f2-48db-ac62-eaeaa2e0bffc}"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14</Slides>
  <Notes>2</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 Healthcare Privacy Analysis of Google Gemini Ai  </vt:lpstr>
      <vt:lpstr>Project Scope</vt:lpstr>
      <vt:lpstr>Project Summary </vt:lpstr>
      <vt:lpstr>Phase 1 Review </vt:lpstr>
      <vt:lpstr>Configuration of Phase 2</vt:lpstr>
      <vt:lpstr>Phase 2 Network Architecture</vt:lpstr>
      <vt:lpstr>Phase 2 Environment Security Controls</vt:lpstr>
      <vt:lpstr>Phase 2 Implementation/ Deployment </vt:lpstr>
      <vt:lpstr>Test Case Execution</vt:lpstr>
      <vt:lpstr>Retrieved Logs</vt:lpstr>
      <vt:lpstr>Phase 3: Log Collection and  Preliminary Findings</vt:lpstr>
      <vt:lpstr>Phase 3 Evaluation</vt:lpstr>
      <vt:lpstr>Phase 3 Regulatory Mapping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Healthcare Privacy Analysis of Google Gemini Ai  </dc:title>
  <dc:creator/>
  <cp:revision>2</cp:revision>
  <dcterms:created xsi:type="dcterms:W3CDTF">2026-03-31T22:58:32Z</dcterms:created>
  <dcterms:modified xsi:type="dcterms:W3CDTF">2026-05-20T03:48:52Z</dcterms:modified>
</cp:coreProperties>
</file>